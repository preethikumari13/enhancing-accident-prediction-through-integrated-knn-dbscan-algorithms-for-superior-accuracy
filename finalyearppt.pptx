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3" r:id="rId7"/>
    <p:sldId id="261" r:id="rId8"/>
    <p:sldId id="264" r:id="rId9"/>
    <p:sldId id="265" r:id="rId10"/>
    <p:sldId id="274" r:id="rId11"/>
    <p:sldId id="266" r:id="rId12"/>
    <p:sldId id="276" r:id="rId13"/>
    <p:sldId id="278" r:id="rId14"/>
    <p:sldId id="277" r:id="rId15"/>
    <p:sldId id="269" r:id="rId16"/>
    <p:sldId id="279" r:id="rId17"/>
    <p:sldId id="270" r:id="rId18"/>
    <p:sldId id="275" r:id="rId19"/>
    <p:sldId id="271" r:id="rId20"/>
    <p:sldId id="272" r:id="rId21"/>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959" autoAdjust="0"/>
  </p:normalViewPr>
  <p:slideViewPr>
    <p:cSldViewPr>
      <p:cViewPr varScale="1">
        <p:scale>
          <a:sx n="70" d="100"/>
          <a:sy n="70" d="100"/>
        </p:scale>
        <p:origin x="1166"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png"/></Relationships>
</file>

<file path=ppt/diagrams/_rels/drawing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6E49F5-C8D7-4CE1-B2B2-513D4D45790E}"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F8C3AD71-D02D-4D9A-B9C2-DBF8754A6DE9}">
      <dgm:prSet/>
      <dgm:spPr/>
      <dgm:t>
        <a:bodyPr/>
        <a:lstStyle/>
        <a:p>
          <a:r>
            <a:rPr lang="en-IN" b="1" dirty="0"/>
            <a:t>PROJECT TITLE</a:t>
          </a:r>
          <a:endParaRPr lang="en-IN" dirty="0"/>
        </a:p>
      </dgm:t>
    </dgm:pt>
    <dgm:pt modelId="{43AF9591-C411-4B76-AD1D-5F0A0B412C99}" type="parTrans" cxnId="{094D7F83-3F4F-4718-A042-3C0ACA423EBB}">
      <dgm:prSet/>
      <dgm:spPr/>
      <dgm:t>
        <a:bodyPr/>
        <a:lstStyle/>
        <a:p>
          <a:endParaRPr lang="en-IN"/>
        </a:p>
      </dgm:t>
    </dgm:pt>
    <dgm:pt modelId="{B97E7474-004F-45E1-8FE9-720224F1EDC0}" type="sibTrans" cxnId="{094D7F83-3F4F-4718-A042-3C0ACA423EBB}">
      <dgm:prSet/>
      <dgm:spPr/>
      <dgm:t>
        <a:bodyPr/>
        <a:lstStyle/>
        <a:p>
          <a:endParaRPr lang="en-IN"/>
        </a:p>
      </dgm:t>
    </dgm:pt>
    <dgm:pt modelId="{7ABD3161-9662-41F2-A656-E4539F90C894}" type="pres">
      <dgm:prSet presAssocID="{C26E49F5-C8D7-4CE1-B2B2-513D4D45790E}" presName="compositeShape" presStyleCnt="0">
        <dgm:presLayoutVars>
          <dgm:chMax val="7"/>
          <dgm:dir/>
          <dgm:resizeHandles val="exact"/>
        </dgm:presLayoutVars>
      </dgm:prSet>
      <dgm:spPr/>
    </dgm:pt>
    <dgm:pt modelId="{F897C7DD-EF81-4EEC-BDEA-D2F5BA091FF1}" type="pres">
      <dgm:prSet presAssocID="{F8C3AD71-D02D-4D9A-B9C2-DBF8754A6DE9}" presName="circ1TxSh" presStyleLbl="vennNode1" presStyleIdx="0" presStyleCnt="1" custScaleX="333334"/>
      <dgm:spPr/>
    </dgm:pt>
  </dgm:ptLst>
  <dgm:cxnLst>
    <dgm:cxn modelId="{094D7F83-3F4F-4718-A042-3C0ACA423EBB}" srcId="{C26E49F5-C8D7-4CE1-B2B2-513D4D45790E}" destId="{F8C3AD71-D02D-4D9A-B9C2-DBF8754A6DE9}" srcOrd="0" destOrd="0" parTransId="{43AF9591-C411-4B76-AD1D-5F0A0B412C99}" sibTransId="{B97E7474-004F-45E1-8FE9-720224F1EDC0}"/>
    <dgm:cxn modelId="{65C4C493-13EB-4833-AE38-777FDF84E670}" type="presOf" srcId="{C26E49F5-C8D7-4CE1-B2B2-513D4D45790E}" destId="{7ABD3161-9662-41F2-A656-E4539F90C894}" srcOrd="0" destOrd="0" presId="urn:microsoft.com/office/officeart/2005/8/layout/venn1"/>
    <dgm:cxn modelId="{8FD5D5FB-24FE-4087-8BC6-1895FD89B3DE}" type="presOf" srcId="{F8C3AD71-D02D-4D9A-B9C2-DBF8754A6DE9}" destId="{F897C7DD-EF81-4EEC-BDEA-D2F5BA091FF1}" srcOrd="0" destOrd="0" presId="urn:microsoft.com/office/officeart/2005/8/layout/venn1"/>
    <dgm:cxn modelId="{EB79BF69-215C-44E0-B91D-686404034707}" type="presParOf" srcId="{7ABD3161-9662-41F2-A656-E4539F90C894}" destId="{F897C7DD-EF81-4EEC-BDEA-D2F5BA091FF1}" srcOrd="0"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8ED1A5-57F5-4AF2-AF9F-3160E20554F6}"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1F52033A-E914-43F9-BE6E-27B04749A892}">
      <dgm:prSet/>
      <dgm:spPr/>
      <dgm:t>
        <a:bodyPr/>
        <a:lstStyle/>
        <a:p>
          <a:r>
            <a:rPr lang="en-IN" dirty="0"/>
            <a:t>  “ENHANCING ACCIDENT PREDICTION THROUGH INTEGRATED KNN AND DBSCAN ALGORITHMS FOR SUPERIOR ACCURACY”</a:t>
          </a:r>
        </a:p>
      </dgm:t>
    </dgm:pt>
    <dgm:pt modelId="{E8606E52-1869-42F1-BFBA-A035F54621D8}" type="parTrans" cxnId="{19245895-5F19-44D8-A493-63E44204106B}">
      <dgm:prSet/>
      <dgm:spPr/>
      <dgm:t>
        <a:bodyPr/>
        <a:lstStyle/>
        <a:p>
          <a:endParaRPr lang="en-IN"/>
        </a:p>
      </dgm:t>
    </dgm:pt>
    <dgm:pt modelId="{B88A607B-C849-4488-87B4-9E6CAFF03DED}" type="sibTrans" cxnId="{19245895-5F19-44D8-A493-63E44204106B}">
      <dgm:prSet/>
      <dgm:spPr/>
      <dgm:t>
        <a:bodyPr/>
        <a:lstStyle/>
        <a:p>
          <a:endParaRPr lang="en-IN"/>
        </a:p>
      </dgm:t>
    </dgm:pt>
    <dgm:pt modelId="{11F289C7-9FFE-49CC-ADC7-9F431757491F}" type="pres">
      <dgm:prSet presAssocID="{388ED1A5-57F5-4AF2-AF9F-3160E20554F6}" presName="linearFlow" presStyleCnt="0">
        <dgm:presLayoutVars>
          <dgm:dir/>
          <dgm:resizeHandles val="exact"/>
        </dgm:presLayoutVars>
      </dgm:prSet>
      <dgm:spPr/>
    </dgm:pt>
    <dgm:pt modelId="{1C511F64-76BB-4EE4-9E6E-92F7B149301A}" type="pres">
      <dgm:prSet presAssocID="{1F52033A-E914-43F9-BE6E-27B04749A892}" presName="composite" presStyleCnt="0"/>
      <dgm:spPr/>
    </dgm:pt>
    <dgm:pt modelId="{342D27AE-0E49-4CCC-A9B4-2506EBC58B2C}" type="pres">
      <dgm:prSet presAssocID="{1F52033A-E914-43F9-BE6E-27B04749A892}" presName="imgShp" presStyleLbl="fgImgPlace1" presStyleIdx="0" presStyleCnt="1" custScaleX="89595" custLinFactNeighborX="-45370" custLinFactNeighborY="-49"/>
      <dgm:spPr>
        <a:blipFill>
          <a:blip xmlns:r="http://schemas.openxmlformats.org/officeDocument/2006/relationships" r:embed="rId1">
            <a:extLst>
              <a:ext uri="{96DAC541-7B7A-43D3-8B79-37D633B846F1}">
                <asvg:svgBlip xmlns:asvg="http://schemas.microsoft.com/office/drawing/2016/SVG/main" r:embed="rId2"/>
              </a:ext>
            </a:extLst>
          </a:blip>
          <a:srcRect/>
          <a:stretch>
            <a:fillRect l="-6000" r="-6000"/>
          </a:stretch>
        </a:blipFill>
      </dgm:spPr>
      <dgm:extLst>
        <a:ext uri="{E40237B7-FDA0-4F09-8148-C483321AD2D9}">
          <dgm14:cNvPr xmlns:dgm14="http://schemas.microsoft.com/office/drawing/2010/diagram" id="0" name="" descr="Bar graph with upward trend with solid fill"/>
        </a:ext>
      </dgm:extLst>
    </dgm:pt>
    <dgm:pt modelId="{CA45CD97-018C-4B8E-8A36-81AD0969C3D1}" type="pres">
      <dgm:prSet presAssocID="{1F52033A-E914-43F9-BE6E-27B04749A892}" presName="txShp" presStyleLbl="node1" presStyleIdx="0" presStyleCnt="1" custScaleX="150376" custLinFactNeighborX="808" custLinFactNeighborY="-49">
        <dgm:presLayoutVars>
          <dgm:bulletEnabled val="1"/>
        </dgm:presLayoutVars>
      </dgm:prSet>
      <dgm:spPr/>
    </dgm:pt>
  </dgm:ptLst>
  <dgm:cxnLst>
    <dgm:cxn modelId="{C71ECD64-BC91-4800-8924-E33F787F4E88}" type="presOf" srcId="{1F52033A-E914-43F9-BE6E-27B04749A892}" destId="{CA45CD97-018C-4B8E-8A36-81AD0969C3D1}" srcOrd="0" destOrd="0" presId="urn:microsoft.com/office/officeart/2005/8/layout/vList3"/>
    <dgm:cxn modelId="{1FD89693-8130-481F-9A7D-74B6AEA68D50}" type="presOf" srcId="{388ED1A5-57F5-4AF2-AF9F-3160E20554F6}" destId="{11F289C7-9FFE-49CC-ADC7-9F431757491F}" srcOrd="0" destOrd="0" presId="urn:microsoft.com/office/officeart/2005/8/layout/vList3"/>
    <dgm:cxn modelId="{19245895-5F19-44D8-A493-63E44204106B}" srcId="{388ED1A5-57F5-4AF2-AF9F-3160E20554F6}" destId="{1F52033A-E914-43F9-BE6E-27B04749A892}" srcOrd="0" destOrd="0" parTransId="{E8606E52-1869-42F1-BFBA-A035F54621D8}" sibTransId="{B88A607B-C849-4488-87B4-9E6CAFF03DED}"/>
    <dgm:cxn modelId="{D731602D-A2B0-4BB7-9D29-8D76054C7284}" type="presParOf" srcId="{11F289C7-9FFE-49CC-ADC7-9F431757491F}" destId="{1C511F64-76BB-4EE4-9E6E-92F7B149301A}" srcOrd="0" destOrd="0" presId="urn:microsoft.com/office/officeart/2005/8/layout/vList3"/>
    <dgm:cxn modelId="{828F2973-A7E1-4398-B4A8-EA4486A0B52F}" type="presParOf" srcId="{1C511F64-76BB-4EE4-9E6E-92F7B149301A}" destId="{342D27AE-0E49-4CCC-A9B4-2506EBC58B2C}" srcOrd="0" destOrd="0" presId="urn:microsoft.com/office/officeart/2005/8/layout/vList3"/>
    <dgm:cxn modelId="{3939FD5E-33F4-4ECA-AE83-81DC8667332C}" type="presParOf" srcId="{1C511F64-76BB-4EE4-9E6E-92F7B149301A}" destId="{CA45CD97-018C-4B8E-8A36-81AD0969C3D1}"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168D3E-7B82-46EC-A93B-B013EAA8CEB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93AA5744-19A0-4420-9959-100F39BFE805}">
      <dgm:prSet/>
      <dgm:spPr/>
      <dgm:t>
        <a:bodyPr/>
        <a:lstStyle/>
        <a:p>
          <a:r>
            <a:rPr lang="en-IN" dirty="0"/>
            <a:t>Step 1: </a:t>
          </a:r>
          <a:r>
            <a:rPr lang="en-IN" b="1" dirty="0"/>
            <a:t>Data Collection</a:t>
          </a:r>
          <a:endParaRPr lang="en-IN" dirty="0"/>
        </a:p>
      </dgm:t>
    </dgm:pt>
    <dgm:pt modelId="{E96BCA41-F9B3-43B0-A568-C18770435DDC}" type="parTrans" cxnId="{7472715A-6FD8-4735-9060-2488FF1462AF}">
      <dgm:prSet/>
      <dgm:spPr/>
      <dgm:t>
        <a:bodyPr/>
        <a:lstStyle/>
        <a:p>
          <a:endParaRPr lang="en-IN"/>
        </a:p>
      </dgm:t>
    </dgm:pt>
    <dgm:pt modelId="{03457F2D-9A46-46BE-90BE-77850BC41631}" type="sibTrans" cxnId="{7472715A-6FD8-4735-9060-2488FF1462AF}">
      <dgm:prSet/>
      <dgm:spPr/>
      <dgm:t>
        <a:bodyPr/>
        <a:lstStyle/>
        <a:p>
          <a:endParaRPr lang="en-IN"/>
        </a:p>
      </dgm:t>
    </dgm:pt>
    <dgm:pt modelId="{5842B525-3AA3-4E54-A61E-212A36A853B3}">
      <dgm:prSet/>
      <dgm:spPr/>
      <dgm:t>
        <a:bodyPr/>
        <a:lstStyle/>
        <a:p>
          <a:r>
            <a:rPr lang="en-IN" dirty="0"/>
            <a:t>Real-world accident dataset with features like location, weather, time, and severity.</a:t>
          </a:r>
        </a:p>
      </dgm:t>
    </dgm:pt>
    <dgm:pt modelId="{26CE5BF7-9AAE-4E64-AD03-2AA7B0102E87}" type="parTrans" cxnId="{C834C373-2DCF-4982-83FB-73C4A38D2A71}">
      <dgm:prSet/>
      <dgm:spPr/>
      <dgm:t>
        <a:bodyPr/>
        <a:lstStyle/>
        <a:p>
          <a:endParaRPr lang="en-IN"/>
        </a:p>
      </dgm:t>
    </dgm:pt>
    <dgm:pt modelId="{A45ABF7F-A7DB-43EC-9D0B-7C48C8957D4E}" type="sibTrans" cxnId="{C834C373-2DCF-4982-83FB-73C4A38D2A71}">
      <dgm:prSet/>
      <dgm:spPr/>
      <dgm:t>
        <a:bodyPr/>
        <a:lstStyle/>
        <a:p>
          <a:endParaRPr lang="en-IN"/>
        </a:p>
      </dgm:t>
    </dgm:pt>
    <dgm:pt modelId="{4134A36F-2125-4EF3-8F56-8CA4714759EF}">
      <dgm:prSet/>
      <dgm:spPr/>
      <dgm:t>
        <a:bodyPr/>
        <a:lstStyle/>
        <a:p>
          <a:r>
            <a:rPr lang="en-IN"/>
            <a:t>Step 2: </a:t>
          </a:r>
          <a:r>
            <a:rPr lang="en-IN" b="1"/>
            <a:t>Data Preprocessing</a:t>
          </a:r>
          <a:endParaRPr lang="en-IN"/>
        </a:p>
      </dgm:t>
    </dgm:pt>
    <dgm:pt modelId="{D9D453F5-C107-4074-BDFD-A423BA55B0B0}" type="parTrans" cxnId="{CD72BB6E-0A90-41B7-B918-574BDF5C15F2}">
      <dgm:prSet/>
      <dgm:spPr/>
      <dgm:t>
        <a:bodyPr/>
        <a:lstStyle/>
        <a:p>
          <a:endParaRPr lang="en-IN"/>
        </a:p>
      </dgm:t>
    </dgm:pt>
    <dgm:pt modelId="{DBBE2529-B87F-4DEE-9429-7F59A74784DF}" type="sibTrans" cxnId="{CD72BB6E-0A90-41B7-B918-574BDF5C15F2}">
      <dgm:prSet/>
      <dgm:spPr/>
      <dgm:t>
        <a:bodyPr/>
        <a:lstStyle/>
        <a:p>
          <a:endParaRPr lang="en-IN"/>
        </a:p>
      </dgm:t>
    </dgm:pt>
    <dgm:pt modelId="{E5623BA3-20E8-4857-8E32-C5633BA6C896}">
      <dgm:prSet/>
      <dgm:spPr/>
      <dgm:t>
        <a:bodyPr/>
        <a:lstStyle/>
        <a:p>
          <a:r>
            <a:rPr lang="en-IN"/>
            <a:t>Handle missing values, normalize numerical data.</a:t>
          </a:r>
        </a:p>
      </dgm:t>
    </dgm:pt>
    <dgm:pt modelId="{4FCFC279-472F-4A86-ACA9-5F9C4113F36C}" type="parTrans" cxnId="{B92C0C89-F58D-4F77-87E8-C6F2590A35E9}">
      <dgm:prSet/>
      <dgm:spPr/>
      <dgm:t>
        <a:bodyPr/>
        <a:lstStyle/>
        <a:p>
          <a:endParaRPr lang="en-IN"/>
        </a:p>
      </dgm:t>
    </dgm:pt>
    <dgm:pt modelId="{5AE8A679-4FD9-4BFB-9FD1-4CF0C62E383C}" type="sibTrans" cxnId="{B92C0C89-F58D-4F77-87E8-C6F2590A35E9}">
      <dgm:prSet/>
      <dgm:spPr/>
      <dgm:t>
        <a:bodyPr/>
        <a:lstStyle/>
        <a:p>
          <a:endParaRPr lang="en-IN"/>
        </a:p>
      </dgm:t>
    </dgm:pt>
    <dgm:pt modelId="{95431484-4382-4151-9365-4251FCBEF350}">
      <dgm:prSet/>
      <dgm:spPr/>
      <dgm:t>
        <a:bodyPr/>
        <a:lstStyle/>
        <a:p>
          <a:r>
            <a:rPr lang="en-IN"/>
            <a:t>Encode categorical variables.</a:t>
          </a:r>
        </a:p>
      </dgm:t>
    </dgm:pt>
    <dgm:pt modelId="{13878B1A-6CC0-404C-870F-76C8EADD50D8}" type="parTrans" cxnId="{3FB92A36-2660-485F-84CB-CA3A56AE0EFB}">
      <dgm:prSet/>
      <dgm:spPr/>
      <dgm:t>
        <a:bodyPr/>
        <a:lstStyle/>
        <a:p>
          <a:endParaRPr lang="en-IN"/>
        </a:p>
      </dgm:t>
    </dgm:pt>
    <dgm:pt modelId="{075FF3DA-3816-40B4-BBDD-07A9C668D318}" type="sibTrans" cxnId="{3FB92A36-2660-485F-84CB-CA3A56AE0EFB}">
      <dgm:prSet/>
      <dgm:spPr/>
      <dgm:t>
        <a:bodyPr/>
        <a:lstStyle/>
        <a:p>
          <a:endParaRPr lang="en-IN"/>
        </a:p>
      </dgm:t>
    </dgm:pt>
    <dgm:pt modelId="{AAF7EC92-2088-4FA2-B32B-0E6904D3ED73}">
      <dgm:prSet/>
      <dgm:spPr/>
      <dgm:t>
        <a:bodyPr/>
        <a:lstStyle/>
        <a:p>
          <a:r>
            <a:rPr lang="en-IN" dirty="0"/>
            <a:t>Remove irrelevant or redundant attributes.</a:t>
          </a:r>
        </a:p>
      </dgm:t>
    </dgm:pt>
    <dgm:pt modelId="{8B4026D3-D9BD-4EB1-99D9-D4E22F0A0C5E}" type="parTrans" cxnId="{53DE4B2E-DA8F-43A9-8CF9-7EB450E0425D}">
      <dgm:prSet/>
      <dgm:spPr/>
      <dgm:t>
        <a:bodyPr/>
        <a:lstStyle/>
        <a:p>
          <a:endParaRPr lang="en-IN"/>
        </a:p>
      </dgm:t>
    </dgm:pt>
    <dgm:pt modelId="{17258CA7-33DA-4C9C-9687-01344D52B084}" type="sibTrans" cxnId="{53DE4B2E-DA8F-43A9-8CF9-7EB450E0425D}">
      <dgm:prSet/>
      <dgm:spPr/>
      <dgm:t>
        <a:bodyPr/>
        <a:lstStyle/>
        <a:p>
          <a:endParaRPr lang="en-IN"/>
        </a:p>
      </dgm:t>
    </dgm:pt>
    <dgm:pt modelId="{843FA5E6-14F0-4349-A719-92315E632243}">
      <dgm:prSet/>
      <dgm:spPr/>
      <dgm:t>
        <a:bodyPr/>
        <a:lstStyle/>
        <a:p>
          <a:r>
            <a:rPr lang="en-IN"/>
            <a:t>Step 3: </a:t>
          </a:r>
          <a:r>
            <a:rPr lang="en-IN" b="1"/>
            <a:t>Noise Detection using DBSCAN</a:t>
          </a:r>
          <a:endParaRPr lang="en-IN"/>
        </a:p>
      </dgm:t>
    </dgm:pt>
    <dgm:pt modelId="{EF2A09E7-1067-4073-A43F-0F4B3BBD3E1A}" type="parTrans" cxnId="{EFAE86DE-0050-429C-BC93-92698C192C45}">
      <dgm:prSet/>
      <dgm:spPr/>
      <dgm:t>
        <a:bodyPr/>
        <a:lstStyle/>
        <a:p>
          <a:endParaRPr lang="en-IN"/>
        </a:p>
      </dgm:t>
    </dgm:pt>
    <dgm:pt modelId="{C4258277-0350-42E1-8206-560F806E7B66}" type="sibTrans" cxnId="{EFAE86DE-0050-429C-BC93-92698C192C45}">
      <dgm:prSet/>
      <dgm:spPr/>
      <dgm:t>
        <a:bodyPr/>
        <a:lstStyle/>
        <a:p>
          <a:endParaRPr lang="en-IN"/>
        </a:p>
      </dgm:t>
    </dgm:pt>
    <dgm:pt modelId="{44B31BE9-F359-4788-992A-062EC684C3CF}">
      <dgm:prSet/>
      <dgm:spPr/>
      <dgm:t>
        <a:bodyPr/>
        <a:lstStyle/>
        <a:p>
          <a:r>
            <a:rPr lang="en-IN" dirty="0"/>
            <a:t>DBSCAN identifies </a:t>
          </a:r>
          <a:r>
            <a:rPr lang="en-IN" b="1" dirty="0"/>
            <a:t>dense clusters </a:t>
          </a:r>
          <a:r>
            <a:rPr lang="en-IN" dirty="0"/>
            <a:t>and filters </a:t>
          </a:r>
          <a:r>
            <a:rPr lang="en-IN" b="1" dirty="0"/>
            <a:t>outliers/noise</a:t>
          </a:r>
          <a:r>
            <a:rPr lang="en-IN" dirty="0"/>
            <a:t>.</a:t>
          </a:r>
        </a:p>
      </dgm:t>
    </dgm:pt>
    <dgm:pt modelId="{4D63CEA9-3F31-4536-9D7B-D0B2AB2E6294}" type="parTrans" cxnId="{A72CFD89-7F24-468C-93F1-0353547BC49B}">
      <dgm:prSet/>
      <dgm:spPr/>
      <dgm:t>
        <a:bodyPr/>
        <a:lstStyle/>
        <a:p>
          <a:endParaRPr lang="en-IN"/>
        </a:p>
      </dgm:t>
    </dgm:pt>
    <dgm:pt modelId="{121C1C97-DD96-445F-BA23-E33A16C05353}" type="sibTrans" cxnId="{A72CFD89-7F24-468C-93F1-0353547BC49B}">
      <dgm:prSet/>
      <dgm:spPr/>
      <dgm:t>
        <a:bodyPr/>
        <a:lstStyle/>
        <a:p>
          <a:endParaRPr lang="en-IN"/>
        </a:p>
      </dgm:t>
    </dgm:pt>
    <dgm:pt modelId="{87D8F409-2336-4C15-A0A0-CABBE9AA318B}">
      <dgm:prSet/>
      <dgm:spPr/>
      <dgm:t>
        <a:bodyPr/>
        <a:lstStyle/>
        <a:p>
          <a:r>
            <a:rPr lang="en-IN"/>
            <a:t>Improves data quality before classification.</a:t>
          </a:r>
        </a:p>
      </dgm:t>
    </dgm:pt>
    <dgm:pt modelId="{F6F082F2-D507-45F6-8AF8-85CBDBC3CED3}" type="parTrans" cxnId="{578A0EAA-6811-4F37-9348-FFE586C38969}">
      <dgm:prSet/>
      <dgm:spPr/>
      <dgm:t>
        <a:bodyPr/>
        <a:lstStyle/>
        <a:p>
          <a:endParaRPr lang="en-IN"/>
        </a:p>
      </dgm:t>
    </dgm:pt>
    <dgm:pt modelId="{AF5586D6-62F8-4A36-90F7-E6162545F62C}" type="sibTrans" cxnId="{578A0EAA-6811-4F37-9348-FFE586C38969}">
      <dgm:prSet/>
      <dgm:spPr/>
      <dgm:t>
        <a:bodyPr/>
        <a:lstStyle/>
        <a:p>
          <a:endParaRPr lang="en-IN"/>
        </a:p>
      </dgm:t>
    </dgm:pt>
    <dgm:pt modelId="{758A57C7-4EE7-486E-89B2-C3AEE5984158}" type="pres">
      <dgm:prSet presAssocID="{25168D3E-7B82-46EC-A93B-B013EAA8CEB1}" presName="Name0" presStyleCnt="0">
        <dgm:presLayoutVars>
          <dgm:dir/>
          <dgm:animLvl val="lvl"/>
          <dgm:resizeHandles val="exact"/>
        </dgm:presLayoutVars>
      </dgm:prSet>
      <dgm:spPr/>
    </dgm:pt>
    <dgm:pt modelId="{893A311B-0BBC-4FB0-9B09-456C9F3BFC29}" type="pres">
      <dgm:prSet presAssocID="{93AA5744-19A0-4420-9959-100F39BFE805}" presName="linNode" presStyleCnt="0"/>
      <dgm:spPr/>
    </dgm:pt>
    <dgm:pt modelId="{FCBC7D6F-1DAD-4DBC-BD63-2FCEAC06ABA7}" type="pres">
      <dgm:prSet presAssocID="{93AA5744-19A0-4420-9959-100F39BFE805}" presName="parentText" presStyleLbl="node1" presStyleIdx="0" presStyleCnt="3">
        <dgm:presLayoutVars>
          <dgm:chMax val="1"/>
          <dgm:bulletEnabled val="1"/>
        </dgm:presLayoutVars>
      </dgm:prSet>
      <dgm:spPr/>
    </dgm:pt>
    <dgm:pt modelId="{86D74083-0EAD-47C5-8D1F-A32A086546AC}" type="pres">
      <dgm:prSet presAssocID="{93AA5744-19A0-4420-9959-100F39BFE805}" presName="descendantText" presStyleLbl="alignAccFollowNode1" presStyleIdx="0" presStyleCnt="3">
        <dgm:presLayoutVars>
          <dgm:bulletEnabled val="1"/>
        </dgm:presLayoutVars>
      </dgm:prSet>
      <dgm:spPr/>
    </dgm:pt>
    <dgm:pt modelId="{CDDB1BEC-CAA6-4641-AA1F-9D346A47259C}" type="pres">
      <dgm:prSet presAssocID="{03457F2D-9A46-46BE-90BE-77850BC41631}" presName="sp" presStyleCnt="0"/>
      <dgm:spPr/>
    </dgm:pt>
    <dgm:pt modelId="{1AFC3AE2-8917-4FCB-A8D7-BF519AC3AC97}" type="pres">
      <dgm:prSet presAssocID="{4134A36F-2125-4EF3-8F56-8CA4714759EF}" presName="linNode" presStyleCnt="0"/>
      <dgm:spPr/>
    </dgm:pt>
    <dgm:pt modelId="{652EAEF3-9BB9-487A-A6AC-3740358E37C7}" type="pres">
      <dgm:prSet presAssocID="{4134A36F-2125-4EF3-8F56-8CA4714759EF}" presName="parentText" presStyleLbl="node1" presStyleIdx="1" presStyleCnt="3">
        <dgm:presLayoutVars>
          <dgm:chMax val="1"/>
          <dgm:bulletEnabled val="1"/>
        </dgm:presLayoutVars>
      </dgm:prSet>
      <dgm:spPr/>
    </dgm:pt>
    <dgm:pt modelId="{6AB761CB-FD08-4C11-BCFE-F0E1312D206A}" type="pres">
      <dgm:prSet presAssocID="{4134A36F-2125-4EF3-8F56-8CA4714759EF}" presName="descendantText" presStyleLbl="alignAccFollowNode1" presStyleIdx="1" presStyleCnt="3">
        <dgm:presLayoutVars>
          <dgm:bulletEnabled val="1"/>
        </dgm:presLayoutVars>
      </dgm:prSet>
      <dgm:spPr/>
    </dgm:pt>
    <dgm:pt modelId="{BCFA8622-FA5C-4399-8B45-882CEE826AC0}" type="pres">
      <dgm:prSet presAssocID="{DBBE2529-B87F-4DEE-9429-7F59A74784DF}" presName="sp" presStyleCnt="0"/>
      <dgm:spPr/>
    </dgm:pt>
    <dgm:pt modelId="{EBA1899B-FEBB-43AA-B8FE-D29513F1CE2A}" type="pres">
      <dgm:prSet presAssocID="{843FA5E6-14F0-4349-A719-92315E632243}" presName="linNode" presStyleCnt="0"/>
      <dgm:spPr/>
    </dgm:pt>
    <dgm:pt modelId="{92C79582-CE3A-4ECD-B158-D4E3D744DC07}" type="pres">
      <dgm:prSet presAssocID="{843FA5E6-14F0-4349-A719-92315E632243}" presName="parentText" presStyleLbl="node1" presStyleIdx="2" presStyleCnt="3">
        <dgm:presLayoutVars>
          <dgm:chMax val="1"/>
          <dgm:bulletEnabled val="1"/>
        </dgm:presLayoutVars>
      </dgm:prSet>
      <dgm:spPr/>
    </dgm:pt>
    <dgm:pt modelId="{D46B8F2D-7681-472F-A375-4C5108F733B7}" type="pres">
      <dgm:prSet presAssocID="{843FA5E6-14F0-4349-A719-92315E632243}" presName="descendantText" presStyleLbl="alignAccFollowNode1" presStyleIdx="2" presStyleCnt="3">
        <dgm:presLayoutVars>
          <dgm:bulletEnabled val="1"/>
        </dgm:presLayoutVars>
      </dgm:prSet>
      <dgm:spPr/>
    </dgm:pt>
  </dgm:ptLst>
  <dgm:cxnLst>
    <dgm:cxn modelId="{A893F619-89FA-414B-804B-289A0ED321F9}" type="presOf" srcId="{E5623BA3-20E8-4857-8E32-C5633BA6C896}" destId="{6AB761CB-FD08-4C11-BCFE-F0E1312D206A}" srcOrd="0" destOrd="0" presId="urn:microsoft.com/office/officeart/2005/8/layout/vList5"/>
    <dgm:cxn modelId="{53DE4B2E-DA8F-43A9-8CF9-7EB450E0425D}" srcId="{4134A36F-2125-4EF3-8F56-8CA4714759EF}" destId="{AAF7EC92-2088-4FA2-B32B-0E6904D3ED73}" srcOrd="2" destOrd="0" parTransId="{8B4026D3-D9BD-4EB1-99D9-D4E22F0A0C5E}" sibTransId="{17258CA7-33DA-4C9C-9687-01344D52B084}"/>
    <dgm:cxn modelId="{1454A533-F664-4B4E-B4E8-A27D94FB92C1}" type="presOf" srcId="{25168D3E-7B82-46EC-A93B-B013EAA8CEB1}" destId="{758A57C7-4EE7-486E-89B2-C3AEE5984158}" srcOrd="0" destOrd="0" presId="urn:microsoft.com/office/officeart/2005/8/layout/vList5"/>
    <dgm:cxn modelId="{3FB92A36-2660-485F-84CB-CA3A56AE0EFB}" srcId="{4134A36F-2125-4EF3-8F56-8CA4714759EF}" destId="{95431484-4382-4151-9365-4251FCBEF350}" srcOrd="1" destOrd="0" parTransId="{13878B1A-6CC0-404C-870F-76C8EADD50D8}" sibTransId="{075FF3DA-3816-40B4-BBDD-07A9C668D318}"/>
    <dgm:cxn modelId="{00CB3549-1A55-4039-9585-9F2A42139D71}" type="presOf" srcId="{93AA5744-19A0-4420-9959-100F39BFE805}" destId="{FCBC7D6F-1DAD-4DBC-BD63-2FCEAC06ABA7}" srcOrd="0" destOrd="0" presId="urn:microsoft.com/office/officeart/2005/8/layout/vList5"/>
    <dgm:cxn modelId="{CD72BB6E-0A90-41B7-B918-574BDF5C15F2}" srcId="{25168D3E-7B82-46EC-A93B-B013EAA8CEB1}" destId="{4134A36F-2125-4EF3-8F56-8CA4714759EF}" srcOrd="1" destOrd="0" parTransId="{D9D453F5-C107-4074-BDFD-A423BA55B0B0}" sibTransId="{DBBE2529-B87F-4DEE-9429-7F59A74784DF}"/>
    <dgm:cxn modelId="{C834C373-2DCF-4982-83FB-73C4A38D2A71}" srcId="{93AA5744-19A0-4420-9959-100F39BFE805}" destId="{5842B525-3AA3-4E54-A61E-212A36A853B3}" srcOrd="0" destOrd="0" parTransId="{26CE5BF7-9AAE-4E64-AD03-2AA7B0102E87}" sibTransId="{A45ABF7F-A7DB-43EC-9D0B-7C48C8957D4E}"/>
    <dgm:cxn modelId="{7472715A-6FD8-4735-9060-2488FF1462AF}" srcId="{25168D3E-7B82-46EC-A93B-B013EAA8CEB1}" destId="{93AA5744-19A0-4420-9959-100F39BFE805}" srcOrd="0" destOrd="0" parTransId="{E96BCA41-F9B3-43B0-A568-C18770435DDC}" sibTransId="{03457F2D-9A46-46BE-90BE-77850BC41631}"/>
    <dgm:cxn modelId="{2BD1E77E-94AE-4D13-B377-6F23B808E6FE}" type="presOf" srcId="{843FA5E6-14F0-4349-A719-92315E632243}" destId="{92C79582-CE3A-4ECD-B158-D4E3D744DC07}" srcOrd="0" destOrd="0" presId="urn:microsoft.com/office/officeart/2005/8/layout/vList5"/>
    <dgm:cxn modelId="{B92C0C89-F58D-4F77-87E8-C6F2590A35E9}" srcId="{4134A36F-2125-4EF3-8F56-8CA4714759EF}" destId="{E5623BA3-20E8-4857-8E32-C5633BA6C896}" srcOrd="0" destOrd="0" parTransId="{4FCFC279-472F-4A86-ACA9-5F9C4113F36C}" sibTransId="{5AE8A679-4FD9-4BFB-9FD1-4CF0C62E383C}"/>
    <dgm:cxn modelId="{A72CFD89-7F24-468C-93F1-0353547BC49B}" srcId="{843FA5E6-14F0-4349-A719-92315E632243}" destId="{44B31BE9-F359-4788-992A-062EC684C3CF}" srcOrd="0" destOrd="0" parTransId="{4D63CEA9-3F31-4536-9D7B-D0B2AB2E6294}" sibTransId="{121C1C97-DD96-445F-BA23-E33A16C05353}"/>
    <dgm:cxn modelId="{22A7BFA2-5B64-4BE9-BAB9-01B16E3A4D82}" type="presOf" srcId="{4134A36F-2125-4EF3-8F56-8CA4714759EF}" destId="{652EAEF3-9BB9-487A-A6AC-3740358E37C7}" srcOrd="0" destOrd="0" presId="urn:microsoft.com/office/officeart/2005/8/layout/vList5"/>
    <dgm:cxn modelId="{1C205CA8-C02B-41A6-A6F3-16355A4B877C}" type="presOf" srcId="{5842B525-3AA3-4E54-A61E-212A36A853B3}" destId="{86D74083-0EAD-47C5-8D1F-A32A086546AC}" srcOrd="0" destOrd="0" presId="urn:microsoft.com/office/officeart/2005/8/layout/vList5"/>
    <dgm:cxn modelId="{578A0EAA-6811-4F37-9348-FFE586C38969}" srcId="{843FA5E6-14F0-4349-A719-92315E632243}" destId="{87D8F409-2336-4C15-A0A0-CABBE9AA318B}" srcOrd="1" destOrd="0" parTransId="{F6F082F2-D507-45F6-8AF8-85CBDBC3CED3}" sibTransId="{AF5586D6-62F8-4A36-90F7-E6162545F62C}"/>
    <dgm:cxn modelId="{24B28ABB-CFAF-4FBF-A676-B67B5A735DB4}" type="presOf" srcId="{87D8F409-2336-4C15-A0A0-CABBE9AA318B}" destId="{D46B8F2D-7681-472F-A375-4C5108F733B7}" srcOrd="0" destOrd="1" presId="urn:microsoft.com/office/officeart/2005/8/layout/vList5"/>
    <dgm:cxn modelId="{5A534DCC-C264-4124-A84F-A7ECE73895B0}" type="presOf" srcId="{44B31BE9-F359-4788-992A-062EC684C3CF}" destId="{D46B8F2D-7681-472F-A375-4C5108F733B7}" srcOrd="0" destOrd="0" presId="urn:microsoft.com/office/officeart/2005/8/layout/vList5"/>
    <dgm:cxn modelId="{F686D2D3-907E-45AF-9AFA-F2D3A4DEDD68}" type="presOf" srcId="{AAF7EC92-2088-4FA2-B32B-0E6904D3ED73}" destId="{6AB761CB-FD08-4C11-BCFE-F0E1312D206A}" srcOrd="0" destOrd="2" presId="urn:microsoft.com/office/officeart/2005/8/layout/vList5"/>
    <dgm:cxn modelId="{EFAE86DE-0050-429C-BC93-92698C192C45}" srcId="{25168D3E-7B82-46EC-A93B-B013EAA8CEB1}" destId="{843FA5E6-14F0-4349-A719-92315E632243}" srcOrd="2" destOrd="0" parTransId="{EF2A09E7-1067-4073-A43F-0F4B3BBD3E1A}" sibTransId="{C4258277-0350-42E1-8206-560F806E7B66}"/>
    <dgm:cxn modelId="{16BED6DE-81EC-4DFD-9BDA-41AF22654F90}" type="presOf" srcId="{95431484-4382-4151-9365-4251FCBEF350}" destId="{6AB761CB-FD08-4C11-BCFE-F0E1312D206A}" srcOrd="0" destOrd="1" presId="urn:microsoft.com/office/officeart/2005/8/layout/vList5"/>
    <dgm:cxn modelId="{326A4E2D-EFDA-4FF1-95DB-1C0A15893235}" type="presParOf" srcId="{758A57C7-4EE7-486E-89B2-C3AEE5984158}" destId="{893A311B-0BBC-4FB0-9B09-456C9F3BFC29}" srcOrd="0" destOrd="0" presId="urn:microsoft.com/office/officeart/2005/8/layout/vList5"/>
    <dgm:cxn modelId="{BB660F15-DECF-4B33-9373-DF3094E1F1C4}" type="presParOf" srcId="{893A311B-0BBC-4FB0-9B09-456C9F3BFC29}" destId="{FCBC7D6F-1DAD-4DBC-BD63-2FCEAC06ABA7}" srcOrd="0" destOrd="0" presId="urn:microsoft.com/office/officeart/2005/8/layout/vList5"/>
    <dgm:cxn modelId="{D7858CB9-8FD3-4725-8CA5-27CD71EBF25C}" type="presParOf" srcId="{893A311B-0BBC-4FB0-9B09-456C9F3BFC29}" destId="{86D74083-0EAD-47C5-8D1F-A32A086546AC}" srcOrd="1" destOrd="0" presId="urn:microsoft.com/office/officeart/2005/8/layout/vList5"/>
    <dgm:cxn modelId="{1E0FB8DE-53B1-4F12-B894-451AE2C97660}" type="presParOf" srcId="{758A57C7-4EE7-486E-89B2-C3AEE5984158}" destId="{CDDB1BEC-CAA6-4641-AA1F-9D346A47259C}" srcOrd="1" destOrd="0" presId="urn:microsoft.com/office/officeart/2005/8/layout/vList5"/>
    <dgm:cxn modelId="{7C165385-F2E2-41C7-97AB-0DCC63C044B2}" type="presParOf" srcId="{758A57C7-4EE7-486E-89B2-C3AEE5984158}" destId="{1AFC3AE2-8917-4FCB-A8D7-BF519AC3AC97}" srcOrd="2" destOrd="0" presId="urn:microsoft.com/office/officeart/2005/8/layout/vList5"/>
    <dgm:cxn modelId="{633E263D-9F7D-43E3-A605-4C7D0E7D0C1C}" type="presParOf" srcId="{1AFC3AE2-8917-4FCB-A8D7-BF519AC3AC97}" destId="{652EAEF3-9BB9-487A-A6AC-3740358E37C7}" srcOrd="0" destOrd="0" presId="urn:microsoft.com/office/officeart/2005/8/layout/vList5"/>
    <dgm:cxn modelId="{A2735F1E-F010-4D02-8477-2681FFFADB73}" type="presParOf" srcId="{1AFC3AE2-8917-4FCB-A8D7-BF519AC3AC97}" destId="{6AB761CB-FD08-4C11-BCFE-F0E1312D206A}" srcOrd="1" destOrd="0" presId="urn:microsoft.com/office/officeart/2005/8/layout/vList5"/>
    <dgm:cxn modelId="{6BB4A3DE-B937-4741-B907-D1E3A9797199}" type="presParOf" srcId="{758A57C7-4EE7-486E-89B2-C3AEE5984158}" destId="{BCFA8622-FA5C-4399-8B45-882CEE826AC0}" srcOrd="3" destOrd="0" presId="urn:microsoft.com/office/officeart/2005/8/layout/vList5"/>
    <dgm:cxn modelId="{EC17003F-952B-463B-AAC7-27FFCD70C96C}" type="presParOf" srcId="{758A57C7-4EE7-486E-89B2-C3AEE5984158}" destId="{EBA1899B-FEBB-43AA-B8FE-D29513F1CE2A}" srcOrd="4" destOrd="0" presId="urn:microsoft.com/office/officeart/2005/8/layout/vList5"/>
    <dgm:cxn modelId="{E17FBCEA-7E67-4E07-9786-64247988EDE0}" type="presParOf" srcId="{EBA1899B-FEBB-43AA-B8FE-D29513F1CE2A}" destId="{92C79582-CE3A-4ECD-B158-D4E3D744DC07}" srcOrd="0" destOrd="0" presId="urn:microsoft.com/office/officeart/2005/8/layout/vList5"/>
    <dgm:cxn modelId="{C2A60D89-873F-49F9-8DF1-2651BE0CFA47}" type="presParOf" srcId="{EBA1899B-FEBB-43AA-B8FE-D29513F1CE2A}" destId="{D46B8F2D-7681-472F-A375-4C5108F733B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1253AD-A22C-4006-A2FD-E79D0A4BE1CB}"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IN"/>
        </a:p>
      </dgm:t>
    </dgm:pt>
    <dgm:pt modelId="{88C72BB5-FCD1-45F3-80ED-93D02DE1C55A}">
      <dgm:prSet/>
      <dgm:spPr/>
      <dgm:t>
        <a:bodyPr/>
        <a:lstStyle/>
        <a:p>
          <a:r>
            <a:rPr lang="en-IN" b="0" i="0"/>
            <a:t>Step 4:</a:t>
          </a:r>
          <a:r>
            <a:rPr lang="en-IN" b="1" i="0"/>
            <a:t> Severity Classification using KNN</a:t>
          </a:r>
          <a:endParaRPr lang="en-IN"/>
        </a:p>
      </dgm:t>
    </dgm:pt>
    <dgm:pt modelId="{46CB591A-4B3D-4677-8BC8-5F3F79B4C8D5}" type="parTrans" cxnId="{2E4E8D25-5838-4908-AFC0-6737B2DEE12A}">
      <dgm:prSet/>
      <dgm:spPr/>
      <dgm:t>
        <a:bodyPr/>
        <a:lstStyle/>
        <a:p>
          <a:endParaRPr lang="en-IN"/>
        </a:p>
      </dgm:t>
    </dgm:pt>
    <dgm:pt modelId="{27B07345-01FA-4831-AEAC-F79B89C88732}" type="sibTrans" cxnId="{2E4E8D25-5838-4908-AFC0-6737B2DEE12A}">
      <dgm:prSet/>
      <dgm:spPr/>
      <dgm:t>
        <a:bodyPr/>
        <a:lstStyle/>
        <a:p>
          <a:endParaRPr lang="en-IN"/>
        </a:p>
      </dgm:t>
    </dgm:pt>
    <dgm:pt modelId="{FFE41DBB-9DFC-468D-9B73-0CAAEDD38FB2}">
      <dgm:prSet/>
      <dgm:spPr/>
      <dgm:t>
        <a:bodyPr/>
        <a:lstStyle/>
        <a:p>
          <a:r>
            <a:rPr lang="en-IN" b="1" i="0"/>
            <a:t>KNN classifies severity based on nearest neighbors.</a:t>
          </a:r>
          <a:endParaRPr lang="en-IN"/>
        </a:p>
      </dgm:t>
    </dgm:pt>
    <dgm:pt modelId="{584F41D2-FC8B-45D9-B665-CDEED867E780}" type="parTrans" cxnId="{096A1AA0-8003-4D9B-9FB0-A090F1C59602}">
      <dgm:prSet/>
      <dgm:spPr/>
      <dgm:t>
        <a:bodyPr/>
        <a:lstStyle/>
        <a:p>
          <a:endParaRPr lang="en-IN"/>
        </a:p>
      </dgm:t>
    </dgm:pt>
    <dgm:pt modelId="{9A272C35-B0E8-4BD0-9675-C5A3C26F9BAC}" type="sibTrans" cxnId="{096A1AA0-8003-4D9B-9FB0-A090F1C59602}">
      <dgm:prSet/>
      <dgm:spPr/>
      <dgm:t>
        <a:bodyPr/>
        <a:lstStyle/>
        <a:p>
          <a:endParaRPr lang="en-IN"/>
        </a:p>
      </dgm:t>
    </dgm:pt>
    <dgm:pt modelId="{2BF2897D-919D-4BEE-9EAD-EB0D46AE96FE}">
      <dgm:prSet/>
      <dgm:spPr/>
      <dgm:t>
        <a:bodyPr/>
        <a:lstStyle/>
        <a:p>
          <a:r>
            <a:rPr lang="en-IN" b="1" i="0"/>
            <a:t>Works on DBSCAN-cleaned data for better accuracy.</a:t>
          </a:r>
          <a:endParaRPr lang="en-IN"/>
        </a:p>
      </dgm:t>
    </dgm:pt>
    <dgm:pt modelId="{3704B32B-B798-4AAD-BD1A-24BD7CBCF132}" type="parTrans" cxnId="{1936580E-5128-4B84-A552-CE7280199F4B}">
      <dgm:prSet/>
      <dgm:spPr/>
      <dgm:t>
        <a:bodyPr/>
        <a:lstStyle/>
        <a:p>
          <a:endParaRPr lang="en-IN"/>
        </a:p>
      </dgm:t>
    </dgm:pt>
    <dgm:pt modelId="{E62D355D-11BA-4C99-BCCC-F6217F387268}" type="sibTrans" cxnId="{1936580E-5128-4B84-A552-CE7280199F4B}">
      <dgm:prSet/>
      <dgm:spPr/>
      <dgm:t>
        <a:bodyPr/>
        <a:lstStyle/>
        <a:p>
          <a:endParaRPr lang="en-IN"/>
        </a:p>
      </dgm:t>
    </dgm:pt>
    <dgm:pt modelId="{30910684-2A11-462B-8484-3813A52FD770}">
      <dgm:prSet/>
      <dgm:spPr/>
      <dgm:t>
        <a:bodyPr/>
        <a:lstStyle/>
        <a:p>
          <a:r>
            <a:rPr lang="en-IN" b="0" i="0"/>
            <a:t>Step 5:</a:t>
          </a:r>
          <a:r>
            <a:rPr lang="en-IN" b="1" i="0"/>
            <a:t> Model Evaluation</a:t>
          </a:r>
          <a:endParaRPr lang="en-IN"/>
        </a:p>
      </dgm:t>
    </dgm:pt>
    <dgm:pt modelId="{4760E349-E5F9-4164-8F80-EA06E9169007}" type="parTrans" cxnId="{32DB4E70-79EF-4700-9819-E19CA896C9B2}">
      <dgm:prSet/>
      <dgm:spPr/>
      <dgm:t>
        <a:bodyPr/>
        <a:lstStyle/>
        <a:p>
          <a:endParaRPr lang="en-IN"/>
        </a:p>
      </dgm:t>
    </dgm:pt>
    <dgm:pt modelId="{E94467EF-2D63-48E3-9556-CC94D32405F1}" type="sibTrans" cxnId="{32DB4E70-79EF-4700-9819-E19CA896C9B2}">
      <dgm:prSet/>
      <dgm:spPr/>
      <dgm:t>
        <a:bodyPr/>
        <a:lstStyle/>
        <a:p>
          <a:endParaRPr lang="en-IN"/>
        </a:p>
      </dgm:t>
    </dgm:pt>
    <dgm:pt modelId="{696A6FB7-015E-4340-B9BE-D4B6FDACD686}">
      <dgm:prSet/>
      <dgm:spPr/>
      <dgm:t>
        <a:bodyPr/>
        <a:lstStyle/>
        <a:p>
          <a:r>
            <a:rPr lang="en-IN" b="1" i="0"/>
            <a:t>Use metrics like accuracy, precision, recall, and F1-score.</a:t>
          </a:r>
          <a:endParaRPr lang="en-IN"/>
        </a:p>
      </dgm:t>
    </dgm:pt>
    <dgm:pt modelId="{84802523-3891-43FE-B8D3-36FFD87677A2}" type="parTrans" cxnId="{D77F768E-A682-4591-BFDB-F69D88597EF0}">
      <dgm:prSet/>
      <dgm:spPr/>
      <dgm:t>
        <a:bodyPr/>
        <a:lstStyle/>
        <a:p>
          <a:endParaRPr lang="en-IN"/>
        </a:p>
      </dgm:t>
    </dgm:pt>
    <dgm:pt modelId="{2F215324-28E5-4C58-8738-B85AF63F5BAE}" type="sibTrans" cxnId="{D77F768E-A682-4591-BFDB-F69D88597EF0}">
      <dgm:prSet/>
      <dgm:spPr/>
      <dgm:t>
        <a:bodyPr/>
        <a:lstStyle/>
        <a:p>
          <a:endParaRPr lang="en-IN"/>
        </a:p>
      </dgm:t>
    </dgm:pt>
    <dgm:pt modelId="{136F19C7-3661-4BBA-B4E3-22BEF239CF50}">
      <dgm:prSet/>
      <dgm:spPr/>
      <dgm:t>
        <a:bodyPr/>
        <a:lstStyle/>
        <a:p>
          <a:r>
            <a:rPr lang="en-IN" b="1" i="0" dirty="0"/>
            <a:t>Compare hybrid model with standalone KNN and DBSCAN.</a:t>
          </a:r>
          <a:endParaRPr lang="en-IN" dirty="0"/>
        </a:p>
      </dgm:t>
    </dgm:pt>
    <dgm:pt modelId="{D89534FC-58EF-49FD-A7FC-CC564F22FC06}" type="parTrans" cxnId="{E208AA0E-A9B7-4D8B-918A-A15BE4C1FAFF}">
      <dgm:prSet/>
      <dgm:spPr/>
      <dgm:t>
        <a:bodyPr/>
        <a:lstStyle/>
        <a:p>
          <a:endParaRPr lang="en-IN"/>
        </a:p>
      </dgm:t>
    </dgm:pt>
    <dgm:pt modelId="{12B6A58D-53F2-49A5-B086-F3BED71FC4E3}" type="sibTrans" cxnId="{E208AA0E-A9B7-4D8B-918A-A15BE4C1FAFF}">
      <dgm:prSet/>
      <dgm:spPr/>
      <dgm:t>
        <a:bodyPr/>
        <a:lstStyle/>
        <a:p>
          <a:endParaRPr lang="en-IN"/>
        </a:p>
      </dgm:t>
    </dgm:pt>
    <dgm:pt modelId="{E5A923A4-AA99-441F-823E-C60AA33D37AE}">
      <dgm:prSet/>
      <dgm:spPr/>
      <dgm:t>
        <a:bodyPr/>
        <a:lstStyle/>
        <a:p>
          <a:r>
            <a:rPr lang="en-IN" b="0" i="0" dirty="0"/>
            <a:t>Step 6:</a:t>
          </a:r>
          <a:r>
            <a:rPr lang="en-IN" b="1" i="0" dirty="0"/>
            <a:t> Conclusion &amp; Integration</a:t>
          </a:r>
          <a:endParaRPr lang="en-IN" dirty="0"/>
        </a:p>
      </dgm:t>
    </dgm:pt>
    <dgm:pt modelId="{3BC6B644-672F-4C96-8BEF-81288C5E38C9}" type="parTrans" cxnId="{B7B09602-7F6C-458F-9DC1-8273D39276AE}">
      <dgm:prSet/>
      <dgm:spPr/>
      <dgm:t>
        <a:bodyPr/>
        <a:lstStyle/>
        <a:p>
          <a:endParaRPr lang="en-IN"/>
        </a:p>
      </dgm:t>
    </dgm:pt>
    <dgm:pt modelId="{7814D54D-54F7-4FD8-8738-E4059D97D0D3}" type="sibTrans" cxnId="{B7B09602-7F6C-458F-9DC1-8273D39276AE}">
      <dgm:prSet/>
      <dgm:spPr/>
      <dgm:t>
        <a:bodyPr/>
        <a:lstStyle/>
        <a:p>
          <a:endParaRPr lang="en-IN"/>
        </a:p>
      </dgm:t>
    </dgm:pt>
    <dgm:pt modelId="{AD60B978-4744-4F0A-916C-24A35BB93EDF}">
      <dgm:prSet/>
      <dgm:spPr/>
      <dgm:t>
        <a:bodyPr/>
        <a:lstStyle/>
        <a:p>
          <a:r>
            <a:rPr lang="en-IN" b="1" i="0"/>
            <a:t>Final model supports predictive insights for accident management systems.</a:t>
          </a:r>
          <a:endParaRPr lang="en-IN"/>
        </a:p>
      </dgm:t>
    </dgm:pt>
    <dgm:pt modelId="{7FD7E7BA-A139-473B-BCBE-509CB034BC8D}" type="parTrans" cxnId="{68EE0E58-5662-4F91-A98A-E66158172854}">
      <dgm:prSet/>
      <dgm:spPr/>
      <dgm:t>
        <a:bodyPr/>
        <a:lstStyle/>
        <a:p>
          <a:endParaRPr lang="en-IN"/>
        </a:p>
      </dgm:t>
    </dgm:pt>
    <dgm:pt modelId="{7D73C52D-8B83-4E60-A5BD-9EE968AB634E}" type="sibTrans" cxnId="{68EE0E58-5662-4F91-A98A-E66158172854}">
      <dgm:prSet/>
      <dgm:spPr/>
      <dgm:t>
        <a:bodyPr/>
        <a:lstStyle/>
        <a:p>
          <a:endParaRPr lang="en-IN"/>
        </a:p>
      </dgm:t>
    </dgm:pt>
    <dgm:pt modelId="{C56142B4-AE31-420A-84BB-39B0BEDF5BE8}" type="pres">
      <dgm:prSet presAssocID="{3E1253AD-A22C-4006-A2FD-E79D0A4BE1CB}" presName="Name0" presStyleCnt="0">
        <dgm:presLayoutVars>
          <dgm:dir/>
          <dgm:animLvl val="lvl"/>
          <dgm:resizeHandles val="exact"/>
        </dgm:presLayoutVars>
      </dgm:prSet>
      <dgm:spPr/>
    </dgm:pt>
    <dgm:pt modelId="{17914DA1-F2F1-4B63-BAB3-018296E9264F}" type="pres">
      <dgm:prSet presAssocID="{88C72BB5-FCD1-45F3-80ED-93D02DE1C55A}" presName="linNode" presStyleCnt="0"/>
      <dgm:spPr/>
    </dgm:pt>
    <dgm:pt modelId="{67BC000F-27E2-41D5-8D27-1110B02EF1D6}" type="pres">
      <dgm:prSet presAssocID="{88C72BB5-FCD1-45F3-80ED-93D02DE1C55A}" presName="parentText" presStyleLbl="node1" presStyleIdx="0" presStyleCnt="3">
        <dgm:presLayoutVars>
          <dgm:chMax val="1"/>
          <dgm:bulletEnabled val="1"/>
        </dgm:presLayoutVars>
      </dgm:prSet>
      <dgm:spPr/>
    </dgm:pt>
    <dgm:pt modelId="{44A28217-BFBF-423C-9FCD-9B50DC9CEA4F}" type="pres">
      <dgm:prSet presAssocID="{88C72BB5-FCD1-45F3-80ED-93D02DE1C55A}" presName="descendantText" presStyleLbl="alignAccFollowNode1" presStyleIdx="0" presStyleCnt="3">
        <dgm:presLayoutVars>
          <dgm:bulletEnabled val="1"/>
        </dgm:presLayoutVars>
      </dgm:prSet>
      <dgm:spPr/>
    </dgm:pt>
    <dgm:pt modelId="{DD9D9570-882B-4D14-BB1A-E5CCC71913FC}" type="pres">
      <dgm:prSet presAssocID="{27B07345-01FA-4831-AEAC-F79B89C88732}" presName="sp" presStyleCnt="0"/>
      <dgm:spPr/>
    </dgm:pt>
    <dgm:pt modelId="{80567C2D-07EB-4E36-94E5-9386168CAB48}" type="pres">
      <dgm:prSet presAssocID="{30910684-2A11-462B-8484-3813A52FD770}" presName="linNode" presStyleCnt="0"/>
      <dgm:spPr/>
    </dgm:pt>
    <dgm:pt modelId="{C5AA7610-92EA-497A-B54F-F9F90A70FF4D}" type="pres">
      <dgm:prSet presAssocID="{30910684-2A11-462B-8484-3813A52FD770}" presName="parentText" presStyleLbl="node1" presStyleIdx="1" presStyleCnt="3">
        <dgm:presLayoutVars>
          <dgm:chMax val="1"/>
          <dgm:bulletEnabled val="1"/>
        </dgm:presLayoutVars>
      </dgm:prSet>
      <dgm:spPr/>
    </dgm:pt>
    <dgm:pt modelId="{84643A93-79D6-4166-9B3A-8537254FD7B8}" type="pres">
      <dgm:prSet presAssocID="{30910684-2A11-462B-8484-3813A52FD770}" presName="descendantText" presStyleLbl="alignAccFollowNode1" presStyleIdx="1" presStyleCnt="3">
        <dgm:presLayoutVars>
          <dgm:bulletEnabled val="1"/>
        </dgm:presLayoutVars>
      </dgm:prSet>
      <dgm:spPr/>
    </dgm:pt>
    <dgm:pt modelId="{DE294F2D-2F3D-43D9-A537-A2DBA5F5DB13}" type="pres">
      <dgm:prSet presAssocID="{E94467EF-2D63-48E3-9556-CC94D32405F1}" presName="sp" presStyleCnt="0"/>
      <dgm:spPr/>
    </dgm:pt>
    <dgm:pt modelId="{CC8478B1-0254-4A1F-BDFD-81848882B2EB}" type="pres">
      <dgm:prSet presAssocID="{E5A923A4-AA99-441F-823E-C60AA33D37AE}" presName="linNode" presStyleCnt="0"/>
      <dgm:spPr/>
    </dgm:pt>
    <dgm:pt modelId="{C973AFF3-93BA-433A-A3CA-3BEA63F77553}" type="pres">
      <dgm:prSet presAssocID="{E5A923A4-AA99-441F-823E-C60AA33D37AE}" presName="parentText" presStyleLbl="node1" presStyleIdx="2" presStyleCnt="3">
        <dgm:presLayoutVars>
          <dgm:chMax val="1"/>
          <dgm:bulletEnabled val="1"/>
        </dgm:presLayoutVars>
      </dgm:prSet>
      <dgm:spPr/>
    </dgm:pt>
    <dgm:pt modelId="{C87BF107-0043-4A65-8E55-C3DBD28632D9}" type="pres">
      <dgm:prSet presAssocID="{E5A923A4-AA99-441F-823E-C60AA33D37AE}" presName="descendantText" presStyleLbl="alignAccFollowNode1" presStyleIdx="2" presStyleCnt="3">
        <dgm:presLayoutVars>
          <dgm:bulletEnabled val="1"/>
        </dgm:presLayoutVars>
      </dgm:prSet>
      <dgm:spPr/>
    </dgm:pt>
  </dgm:ptLst>
  <dgm:cxnLst>
    <dgm:cxn modelId="{B7B09602-7F6C-458F-9DC1-8273D39276AE}" srcId="{3E1253AD-A22C-4006-A2FD-E79D0A4BE1CB}" destId="{E5A923A4-AA99-441F-823E-C60AA33D37AE}" srcOrd="2" destOrd="0" parTransId="{3BC6B644-672F-4C96-8BEF-81288C5E38C9}" sibTransId="{7814D54D-54F7-4FD8-8738-E4059D97D0D3}"/>
    <dgm:cxn modelId="{31FAEA08-3573-49AC-98A0-C0BE550B1456}" type="presOf" srcId="{E5A923A4-AA99-441F-823E-C60AA33D37AE}" destId="{C973AFF3-93BA-433A-A3CA-3BEA63F77553}" srcOrd="0" destOrd="0" presId="urn:microsoft.com/office/officeart/2005/8/layout/vList5"/>
    <dgm:cxn modelId="{1936580E-5128-4B84-A552-CE7280199F4B}" srcId="{88C72BB5-FCD1-45F3-80ED-93D02DE1C55A}" destId="{2BF2897D-919D-4BEE-9EAD-EB0D46AE96FE}" srcOrd="1" destOrd="0" parTransId="{3704B32B-B798-4AAD-BD1A-24BD7CBCF132}" sibTransId="{E62D355D-11BA-4C99-BCCC-F6217F387268}"/>
    <dgm:cxn modelId="{E208AA0E-A9B7-4D8B-918A-A15BE4C1FAFF}" srcId="{30910684-2A11-462B-8484-3813A52FD770}" destId="{136F19C7-3661-4BBA-B4E3-22BEF239CF50}" srcOrd="1" destOrd="0" parTransId="{D89534FC-58EF-49FD-A7FC-CC564F22FC06}" sibTransId="{12B6A58D-53F2-49A5-B086-F3BED71FC4E3}"/>
    <dgm:cxn modelId="{B5879210-78A3-4A84-A4D9-691197D32EC5}" type="presOf" srcId="{696A6FB7-015E-4340-B9BE-D4B6FDACD686}" destId="{84643A93-79D6-4166-9B3A-8537254FD7B8}" srcOrd="0" destOrd="0" presId="urn:microsoft.com/office/officeart/2005/8/layout/vList5"/>
    <dgm:cxn modelId="{62DF4A1F-4065-4550-A5DE-DFB205CCBCBE}" type="presOf" srcId="{88C72BB5-FCD1-45F3-80ED-93D02DE1C55A}" destId="{67BC000F-27E2-41D5-8D27-1110B02EF1D6}" srcOrd="0" destOrd="0" presId="urn:microsoft.com/office/officeart/2005/8/layout/vList5"/>
    <dgm:cxn modelId="{2E4E8D25-5838-4908-AFC0-6737B2DEE12A}" srcId="{3E1253AD-A22C-4006-A2FD-E79D0A4BE1CB}" destId="{88C72BB5-FCD1-45F3-80ED-93D02DE1C55A}" srcOrd="0" destOrd="0" parTransId="{46CB591A-4B3D-4677-8BC8-5F3F79B4C8D5}" sibTransId="{27B07345-01FA-4831-AEAC-F79B89C88732}"/>
    <dgm:cxn modelId="{48722947-797E-4DD6-9D57-9A851C2A316E}" type="presOf" srcId="{FFE41DBB-9DFC-468D-9B73-0CAAEDD38FB2}" destId="{44A28217-BFBF-423C-9FCD-9B50DC9CEA4F}" srcOrd="0" destOrd="0" presId="urn:microsoft.com/office/officeart/2005/8/layout/vList5"/>
    <dgm:cxn modelId="{32DB4E70-79EF-4700-9819-E19CA896C9B2}" srcId="{3E1253AD-A22C-4006-A2FD-E79D0A4BE1CB}" destId="{30910684-2A11-462B-8484-3813A52FD770}" srcOrd="1" destOrd="0" parTransId="{4760E349-E5F9-4164-8F80-EA06E9169007}" sibTransId="{E94467EF-2D63-48E3-9556-CC94D32405F1}"/>
    <dgm:cxn modelId="{68EE0E58-5662-4F91-A98A-E66158172854}" srcId="{E5A923A4-AA99-441F-823E-C60AA33D37AE}" destId="{AD60B978-4744-4F0A-916C-24A35BB93EDF}" srcOrd="0" destOrd="0" parTransId="{7FD7E7BA-A139-473B-BCBE-509CB034BC8D}" sibTransId="{7D73C52D-8B83-4E60-A5BD-9EE968AB634E}"/>
    <dgm:cxn modelId="{10AFE880-26AB-49EE-82B7-443EB2A12D79}" type="presOf" srcId="{30910684-2A11-462B-8484-3813A52FD770}" destId="{C5AA7610-92EA-497A-B54F-F9F90A70FF4D}" srcOrd="0" destOrd="0" presId="urn:microsoft.com/office/officeart/2005/8/layout/vList5"/>
    <dgm:cxn modelId="{D77F768E-A682-4591-BFDB-F69D88597EF0}" srcId="{30910684-2A11-462B-8484-3813A52FD770}" destId="{696A6FB7-015E-4340-B9BE-D4B6FDACD686}" srcOrd="0" destOrd="0" parTransId="{84802523-3891-43FE-B8D3-36FFD87677A2}" sibTransId="{2F215324-28E5-4C58-8738-B85AF63F5BAE}"/>
    <dgm:cxn modelId="{096A1AA0-8003-4D9B-9FB0-A090F1C59602}" srcId="{88C72BB5-FCD1-45F3-80ED-93D02DE1C55A}" destId="{FFE41DBB-9DFC-468D-9B73-0CAAEDD38FB2}" srcOrd="0" destOrd="0" parTransId="{584F41D2-FC8B-45D9-B665-CDEED867E780}" sibTransId="{9A272C35-B0E8-4BD0-9675-C5A3C26F9BAC}"/>
    <dgm:cxn modelId="{E7F096A8-802D-4451-81E2-E4629BBB79EC}" type="presOf" srcId="{AD60B978-4744-4F0A-916C-24A35BB93EDF}" destId="{C87BF107-0043-4A65-8E55-C3DBD28632D9}" srcOrd="0" destOrd="0" presId="urn:microsoft.com/office/officeart/2005/8/layout/vList5"/>
    <dgm:cxn modelId="{99524DB3-9116-436F-93B8-E12F85405FE6}" type="presOf" srcId="{2BF2897D-919D-4BEE-9EAD-EB0D46AE96FE}" destId="{44A28217-BFBF-423C-9FCD-9B50DC9CEA4F}" srcOrd="0" destOrd="1" presId="urn:microsoft.com/office/officeart/2005/8/layout/vList5"/>
    <dgm:cxn modelId="{AB4EE4C6-08CD-4E2D-920F-EB773766C265}" type="presOf" srcId="{3E1253AD-A22C-4006-A2FD-E79D0A4BE1CB}" destId="{C56142B4-AE31-420A-84BB-39B0BEDF5BE8}" srcOrd="0" destOrd="0" presId="urn:microsoft.com/office/officeart/2005/8/layout/vList5"/>
    <dgm:cxn modelId="{0BFF64FC-856D-4B44-B7D3-DFF4CF1F7FB8}" type="presOf" srcId="{136F19C7-3661-4BBA-B4E3-22BEF239CF50}" destId="{84643A93-79D6-4166-9B3A-8537254FD7B8}" srcOrd="0" destOrd="1" presId="urn:microsoft.com/office/officeart/2005/8/layout/vList5"/>
    <dgm:cxn modelId="{4D10D6A5-2266-4325-82B9-448976E486A2}" type="presParOf" srcId="{C56142B4-AE31-420A-84BB-39B0BEDF5BE8}" destId="{17914DA1-F2F1-4B63-BAB3-018296E9264F}" srcOrd="0" destOrd="0" presId="urn:microsoft.com/office/officeart/2005/8/layout/vList5"/>
    <dgm:cxn modelId="{485B50F7-A1D5-4DC8-9DB4-5975E0BA2B07}" type="presParOf" srcId="{17914DA1-F2F1-4B63-BAB3-018296E9264F}" destId="{67BC000F-27E2-41D5-8D27-1110B02EF1D6}" srcOrd="0" destOrd="0" presId="urn:microsoft.com/office/officeart/2005/8/layout/vList5"/>
    <dgm:cxn modelId="{77E017BE-6165-44BC-A122-A5F4F347C7CA}" type="presParOf" srcId="{17914DA1-F2F1-4B63-BAB3-018296E9264F}" destId="{44A28217-BFBF-423C-9FCD-9B50DC9CEA4F}" srcOrd="1" destOrd="0" presId="urn:microsoft.com/office/officeart/2005/8/layout/vList5"/>
    <dgm:cxn modelId="{D14CD0ED-6867-48C0-ABE0-E69DF14D419E}" type="presParOf" srcId="{C56142B4-AE31-420A-84BB-39B0BEDF5BE8}" destId="{DD9D9570-882B-4D14-BB1A-E5CCC71913FC}" srcOrd="1" destOrd="0" presId="urn:microsoft.com/office/officeart/2005/8/layout/vList5"/>
    <dgm:cxn modelId="{B4E1970B-F5B1-4694-9C7D-0AB3363CF381}" type="presParOf" srcId="{C56142B4-AE31-420A-84BB-39B0BEDF5BE8}" destId="{80567C2D-07EB-4E36-94E5-9386168CAB48}" srcOrd="2" destOrd="0" presId="urn:microsoft.com/office/officeart/2005/8/layout/vList5"/>
    <dgm:cxn modelId="{AE4F3B08-13AC-4678-96EC-4591C1779B07}" type="presParOf" srcId="{80567C2D-07EB-4E36-94E5-9386168CAB48}" destId="{C5AA7610-92EA-497A-B54F-F9F90A70FF4D}" srcOrd="0" destOrd="0" presId="urn:microsoft.com/office/officeart/2005/8/layout/vList5"/>
    <dgm:cxn modelId="{49C99289-5A0E-4195-935C-9123C9588392}" type="presParOf" srcId="{80567C2D-07EB-4E36-94E5-9386168CAB48}" destId="{84643A93-79D6-4166-9B3A-8537254FD7B8}" srcOrd="1" destOrd="0" presId="urn:microsoft.com/office/officeart/2005/8/layout/vList5"/>
    <dgm:cxn modelId="{5538D496-501A-4EDC-A4F9-2D05C1A1F070}" type="presParOf" srcId="{C56142B4-AE31-420A-84BB-39B0BEDF5BE8}" destId="{DE294F2D-2F3D-43D9-A537-A2DBA5F5DB13}" srcOrd="3" destOrd="0" presId="urn:microsoft.com/office/officeart/2005/8/layout/vList5"/>
    <dgm:cxn modelId="{9402A58F-3AFB-496A-849E-2FDAC4037C94}" type="presParOf" srcId="{C56142B4-AE31-420A-84BB-39B0BEDF5BE8}" destId="{CC8478B1-0254-4A1F-BDFD-81848882B2EB}" srcOrd="4" destOrd="0" presId="urn:microsoft.com/office/officeart/2005/8/layout/vList5"/>
    <dgm:cxn modelId="{D3CF1C32-0EE0-4AE5-AFBB-C5B4BF397BC8}" type="presParOf" srcId="{CC8478B1-0254-4A1F-BDFD-81848882B2EB}" destId="{C973AFF3-93BA-433A-A3CA-3BEA63F77553}" srcOrd="0" destOrd="0" presId="urn:microsoft.com/office/officeart/2005/8/layout/vList5"/>
    <dgm:cxn modelId="{5494AB52-12FD-4C48-8DDA-5625C1E2F641}" type="presParOf" srcId="{CC8478B1-0254-4A1F-BDFD-81848882B2EB}" destId="{C87BF107-0043-4A65-8E55-C3DBD28632D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AB3A904-4A65-49CB-B2C2-DC93A30E386D}"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IN"/>
        </a:p>
      </dgm:t>
    </dgm:pt>
    <dgm:pt modelId="{702D59CF-43EF-4F43-AFFF-9BDF4D23F984}">
      <dgm:prSet/>
      <dgm:spPr/>
      <dgm:t>
        <a:bodyPr/>
        <a:lstStyle/>
        <a:p>
          <a:r>
            <a:rPr lang="en-US" b="1" i="0"/>
            <a:t>Advantages:</a:t>
          </a:r>
          <a:endParaRPr lang="en-IN"/>
        </a:p>
      </dgm:t>
    </dgm:pt>
    <dgm:pt modelId="{DEB54A67-07AF-419E-9009-15FAE3D51E22}" type="parTrans" cxnId="{6CB5F999-659A-429F-AE2D-9FF9CACD76BC}">
      <dgm:prSet/>
      <dgm:spPr/>
      <dgm:t>
        <a:bodyPr/>
        <a:lstStyle/>
        <a:p>
          <a:endParaRPr lang="en-IN"/>
        </a:p>
      </dgm:t>
    </dgm:pt>
    <dgm:pt modelId="{72FF4F5A-60B8-4D45-9CAD-B172BEC6714C}" type="sibTrans" cxnId="{6CB5F999-659A-429F-AE2D-9FF9CACD76BC}">
      <dgm:prSet/>
      <dgm:spPr/>
      <dgm:t>
        <a:bodyPr/>
        <a:lstStyle/>
        <a:p>
          <a:endParaRPr lang="en-IN"/>
        </a:p>
      </dgm:t>
    </dgm:pt>
    <dgm:pt modelId="{68A17C4B-CCC1-498C-8B5D-E450D02A18AC}">
      <dgm:prSet/>
      <dgm:spPr/>
      <dgm:t>
        <a:bodyPr/>
        <a:lstStyle/>
        <a:p>
          <a:r>
            <a:rPr lang="en-US" b="0" i="0"/>
            <a:t>Predicts accidents more accurately than using KNN or DBSCAN alone.</a:t>
          </a:r>
          <a:endParaRPr lang="en-IN"/>
        </a:p>
      </dgm:t>
    </dgm:pt>
    <dgm:pt modelId="{C0CCAA8D-9DF9-48C8-A13C-EB25235A3943}" type="parTrans" cxnId="{4D0507F9-E457-4562-A9B3-E17022AF5EE0}">
      <dgm:prSet/>
      <dgm:spPr/>
      <dgm:t>
        <a:bodyPr/>
        <a:lstStyle/>
        <a:p>
          <a:endParaRPr lang="en-IN"/>
        </a:p>
      </dgm:t>
    </dgm:pt>
    <dgm:pt modelId="{56E02EE9-7F89-4058-8363-F2648D9A389D}" type="sibTrans" cxnId="{4D0507F9-E457-4562-A9B3-E17022AF5EE0}">
      <dgm:prSet/>
      <dgm:spPr/>
      <dgm:t>
        <a:bodyPr/>
        <a:lstStyle/>
        <a:p>
          <a:endParaRPr lang="en-IN"/>
        </a:p>
      </dgm:t>
    </dgm:pt>
    <dgm:pt modelId="{1C9D8C76-1019-4673-8979-BAA57BDADB9B}">
      <dgm:prSet/>
      <dgm:spPr/>
      <dgm:t>
        <a:bodyPr/>
        <a:lstStyle/>
        <a:p>
          <a:r>
            <a:rPr lang="en-US" b="0" i="0" dirty="0"/>
            <a:t>Can handle noisy or unusual data well.</a:t>
          </a:r>
          <a:endParaRPr lang="en-IN" dirty="0"/>
        </a:p>
      </dgm:t>
    </dgm:pt>
    <dgm:pt modelId="{560553E3-0F3B-44A3-9F3C-440BA8BC4DBE}" type="parTrans" cxnId="{255375BA-EF62-47B0-A4CF-E9D777D83DEE}">
      <dgm:prSet/>
      <dgm:spPr/>
      <dgm:t>
        <a:bodyPr/>
        <a:lstStyle/>
        <a:p>
          <a:endParaRPr lang="en-IN"/>
        </a:p>
      </dgm:t>
    </dgm:pt>
    <dgm:pt modelId="{7A5CD2EF-6741-4F6E-BA7B-3A077E2661CC}" type="sibTrans" cxnId="{255375BA-EF62-47B0-A4CF-E9D777D83DEE}">
      <dgm:prSet/>
      <dgm:spPr/>
      <dgm:t>
        <a:bodyPr/>
        <a:lstStyle/>
        <a:p>
          <a:endParaRPr lang="en-IN"/>
        </a:p>
      </dgm:t>
    </dgm:pt>
    <dgm:pt modelId="{FD2E964E-C771-4B09-B267-25931EB405D6}">
      <dgm:prSet/>
      <dgm:spPr/>
      <dgm:t>
        <a:bodyPr/>
        <a:lstStyle/>
        <a:p>
          <a:r>
            <a:rPr lang="en-US" b="0" i="0"/>
            <a:t>Works on different types of traffic data.</a:t>
          </a:r>
          <a:endParaRPr lang="en-IN"/>
        </a:p>
      </dgm:t>
    </dgm:pt>
    <dgm:pt modelId="{8FB5D78B-F2AC-4AAC-800B-ACE070C4D26F}" type="parTrans" cxnId="{C000E2DA-541F-4419-ADA2-607BF4E00BCE}">
      <dgm:prSet/>
      <dgm:spPr/>
      <dgm:t>
        <a:bodyPr/>
        <a:lstStyle/>
        <a:p>
          <a:endParaRPr lang="en-IN"/>
        </a:p>
      </dgm:t>
    </dgm:pt>
    <dgm:pt modelId="{2D5909B4-4F4B-4929-8B61-51C29CF99C95}" type="sibTrans" cxnId="{C000E2DA-541F-4419-ADA2-607BF4E00BCE}">
      <dgm:prSet/>
      <dgm:spPr/>
      <dgm:t>
        <a:bodyPr/>
        <a:lstStyle/>
        <a:p>
          <a:endParaRPr lang="en-IN"/>
        </a:p>
      </dgm:t>
    </dgm:pt>
    <dgm:pt modelId="{5A819386-3723-43E3-9A77-B23B62EC1ACE}">
      <dgm:prSet/>
      <dgm:spPr/>
      <dgm:t>
        <a:bodyPr/>
        <a:lstStyle/>
        <a:p>
          <a:r>
            <a:rPr lang="en-US" b="0" i="0"/>
            <a:t>Helps with faster emergency response and resource planning.</a:t>
          </a:r>
          <a:endParaRPr lang="en-IN"/>
        </a:p>
      </dgm:t>
    </dgm:pt>
    <dgm:pt modelId="{FDBA990C-D3E8-4920-B9BB-ADE4E4B40B67}" type="parTrans" cxnId="{CF9F63C3-7DD2-43E6-BA6E-5BD12416588A}">
      <dgm:prSet/>
      <dgm:spPr/>
      <dgm:t>
        <a:bodyPr/>
        <a:lstStyle/>
        <a:p>
          <a:endParaRPr lang="en-IN"/>
        </a:p>
      </dgm:t>
    </dgm:pt>
    <dgm:pt modelId="{32CD06A9-53F8-4CAB-8FE9-A69342BD5DB1}" type="sibTrans" cxnId="{CF9F63C3-7DD2-43E6-BA6E-5BD12416588A}">
      <dgm:prSet/>
      <dgm:spPr/>
      <dgm:t>
        <a:bodyPr/>
        <a:lstStyle/>
        <a:p>
          <a:endParaRPr lang="en-IN"/>
        </a:p>
      </dgm:t>
    </dgm:pt>
    <dgm:pt modelId="{D8DAA8FA-9572-473C-8E06-A45341AE56CE}">
      <dgm:prSet/>
      <dgm:spPr/>
      <dgm:t>
        <a:bodyPr/>
        <a:lstStyle/>
        <a:p>
          <a:r>
            <a:rPr lang="en-US" b="0" i="0"/>
            <a:t>Can use sensor data for smarter traffic safety.</a:t>
          </a:r>
          <a:endParaRPr lang="en-IN"/>
        </a:p>
      </dgm:t>
    </dgm:pt>
    <dgm:pt modelId="{96B43F13-8A7C-4B88-8FA0-416091F47157}" type="parTrans" cxnId="{2EA17CF0-F661-4067-9DDD-CE5003885BF0}">
      <dgm:prSet/>
      <dgm:spPr/>
      <dgm:t>
        <a:bodyPr/>
        <a:lstStyle/>
        <a:p>
          <a:endParaRPr lang="en-IN"/>
        </a:p>
      </dgm:t>
    </dgm:pt>
    <dgm:pt modelId="{1EAD8868-B427-44FC-A432-BC712C807F15}" type="sibTrans" cxnId="{2EA17CF0-F661-4067-9DDD-CE5003885BF0}">
      <dgm:prSet/>
      <dgm:spPr/>
      <dgm:t>
        <a:bodyPr/>
        <a:lstStyle/>
        <a:p>
          <a:endParaRPr lang="en-IN"/>
        </a:p>
      </dgm:t>
    </dgm:pt>
    <dgm:pt modelId="{FD80CDCC-102F-4F97-81E6-2D39F851B19F}">
      <dgm:prSet/>
      <dgm:spPr/>
      <dgm:t>
        <a:bodyPr/>
        <a:lstStyle/>
        <a:p>
          <a:r>
            <a:rPr lang="en-US" b="1" i="0"/>
            <a:t>Disadvantages:</a:t>
          </a:r>
          <a:endParaRPr lang="en-IN"/>
        </a:p>
      </dgm:t>
    </dgm:pt>
    <dgm:pt modelId="{5A48358A-5F83-462F-A02B-BF7B35AB6841}" type="parTrans" cxnId="{87EB6CBC-4D0A-4BD1-A3E2-039A543BE1C0}">
      <dgm:prSet/>
      <dgm:spPr/>
      <dgm:t>
        <a:bodyPr/>
        <a:lstStyle/>
        <a:p>
          <a:endParaRPr lang="en-IN"/>
        </a:p>
      </dgm:t>
    </dgm:pt>
    <dgm:pt modelId="{8B2DBB31-8E23-45DE-8F57-66BF9A909CB6}" type="sibTrans" cxnId="{87EB6CBC-4D0A-4BD1-A3E2-039A543BE1C0}">
      <dgm:prSet/>
      <dgm:spPr/>
      <dgm:t>
        <a:bodyPr/>
        <a:lstStyle/>
        <a:p>
          <a:endParaRPr lang="en-IN"/>
        </a:p>
      </dgm:t>
    </dgm:pt>
    <dgm:pt modelId="{82DFE8A0-DC66-47F4-BFEE-A241BF76E51D}">
      <dgm:prSet/>
      <dgm:spPr/>
      <dgm:t>
        <a:bodyPr/>
        <a:lstStyle/>
        <a:p>
          <a:r>
            <a:rPr lang="en-US" b="0" i="0"/>
            <a:t>More complex to set up and run.</a:t>
          </a:r>
          <a:endParaRPr lang="en-IN"/>
        </a:p>
      </dgm:t>
    </dgm:pt>
    <dgm:pt modelId="{17034C98-31D2-402C-909B-3FAE761FB970}" type="parTrans" cxnId="{4D085F10-4225-49DD-979C-D4EF5E57BD21}">
      <dgm:prSet/>
      <dgm:spPr/>
      <dgm:t>
        <a:bodyPr/>
        <a:lstStyle/>
        <a:p>
          <a:endParaRPr lang="en-IN"/>
        </a:p>
      </dgm:t>
    </dgm:pt>
    <dgm:pt modelId="{4F6A98B0-7029-43C4-9502-6AE93B82A54C}" type="sibTrans" cxnId="{4D085F10-4225-49DD-979C-D4EF5E57BD21}">
      <dgm:prSet/>
      <dgm:spPr/>
      <dgm:t>
        <a:bodyPr/>
        <a:lstStyle/>
        <a:p>
          <a:endParaRPr lang="en-IN"/>
        </a:p>
      </dgm:t>
    </dgm:pt>
    <dgm:pt modelId="{F289C409-F57C-42DF-A4C4-34FD0F20231D}">
      <dgm:prSet/>
      <dgm:spPr/>
      <dgm:t>
        <a:bodyPr/>
        <a:lstStyle/>
        <a:p>
          <a:r>
            <a:rPr lang="en-US" b="0" i="0"/>
            <a:t>Needs more computer power for large data.</a:t>
          </a:r>
          <a:endParaRPr lang="en-IN"/>
        </a:p>
      </dgm:t>
    </dgm:pt>
    <dgm:pt modelId="{02CB23FC-EA04-4765-AB9F-365198CFCA2C}" type="parTrans" cxnId="{FA5AC8FD-C41E-405B-9134-7F7BCC7708A1}">
      <dgm:prSet/>
      <dgm:spPr/>
      <dgm:t>
        <a:bodyPr/>
        <a:lstStyle/>
        <a:p>
          <a:endParaRPr lang="en-IN"/>
        </a:p>
      </dgm:t>
    </dgm:pt>
    <dgm:pt modelId="{453E3053-1B58-4CA8-840D-A15AB1B578A7}" type="sibTrans" cxnId="{FA5AC8FD-C41E-405B-9134-7F7BCC7708A1}">
      <dgm:prSet/>
      <dgm:spPr/>
      <dgm:t>
        <a:bodyPr/>
        <a:lstStyle/>
        <a:p>
          <a:endParaRPr lang="en-IN"/>
        </a:p>
      </dgm:t>
    </dgm:pt>
    <dgm:pt modelId="{19926F51-0B0E-4293-A203-0025D9A3233F}">
      <dgm:prSet/>
      <dgm:spPr/>
      <dgm:t>
        <a:bodyPr/>
        <a:lstStyle/>
        <a:p>
          <a:r>
            <a:rPr lang="en-US" b="0" i="0" dirty="0"/>
            <a:t>DBSCAN parameters need careful tuning.</a:t>
          </a:r>
          <a:endParaRPr lang="en-IN" dirty="0"/>
        </a:p>
      </dgm:t>
    </dgm:pt>
    <dgm:pt modelId="{F1C0B3AC-35EE-4C61-8A7B-6339503624B7}" type="parTrans" cxnId="{421D9C8D-DC92-4E03-B2A2-0C018CCB636B}">
      <dgm:prSet/>
      <dgm:spPr/>
      <dgm:t>
        <a:bodyPr/>
        <a:lstStyle/>
        <a:p>
          <a:endParaRPr lang="en-IN"/>
        </a:p>
      </dgm:t>
    </dgm:pt>
    <dgm:pt modelId="{122F52CA-7912-4823-A3D2-EBF80A615811}" type="sibTrans" cxnId="{421D9C8D-DC92-4E03-B2A2-0C018CCB636B}">
      <dgm:prSet/>
      <dgm:spPr/>
      <dgm:t>
        <a:bodyPr/>
        <a:lstStyle/>
        <a:p>
          <a:endParaRPr lang="en-IN"/>
        </a:p>
      </dgm:t>
    </dgm:pt>
    <dgm:pt modelId="{93882F84-D8D2-4329-93D0-120796705BD7}">
      <dgm:prSet/>
      <dgm:spPr/>
      <dgm:t>
        <a:bodyPr/>
        <a:lstStyle/>
        <a:p>
          <a:r>
            <a:rPr lang="en-US" b="0" i="0"/>
            <a:t>Harder to use in real-time traffic systems.</a:t>
          </a:r>
          <a:endParaRPr lang="en-IN"/>
        </a:p>
      </dgm:t>
    </dgm:pt>
    <dgm:pt modelId="{34B3437F-8BEE-4F6C-8C3A-C6BE6D3C9101}" type="parTrans" cxnId="{BCA62224-5DCD-4FF3-BA28-80D1E68DBB2A}">
      <dgm:prSet/>
      <dgm:spPr/>
      <dgm:t>
        <a:bodyPr/>
        <a:lstStyle/>
        <a:p>
          <a:endParaRPr lang="en-IN"/>
        </a:p>
      </dgm:t>
    </dgm:pt>
    <dgm:pt modelId="{F2EC116C-12C8-4445-9B40-096701FA799C}" type="sibTrans" cxnId="{BCA62224-5DCD-4FF3-BA28-80D1E68DBB2A}">
      <dgm:prSet/>
      <dgm:spPr/>
      <dgm:t>
        <a:bodyPr/>
        <a:lstStyle/>
        <a:p>
          <a:endParaRPr lang="en-IN"/>
        </a:p>
      </dgm:t>
    </dgm:pt>
    <dgm:pt modelId="{0AC803C9-5AC1-4A18-9691-58415A55E0A0}">
      <dgm:prSet/>
      <dgm:spPr/>
      <dgm:t>
        <a:bodyPr/>
        <a:lstStyle/>
        <a:p>
          <a:r>
            <a:rPr lang="en-US" b="0" i="0"/>
            <a:t>May need changes for different cities or road conditions</a:t>
          </a:r>
          <a:r>
            <a:rPr lang="en-US" b="1" i="0"/>
            <a:t>.</a:t>
          </a:r>
          <a:endParaRPr lang="en-IN"/>
        </a:p>
      </dgm:t>
    </dgm:pt>
    <dgm:pt modelId="{187D31C7-D1D8-4409-8E2A-F2DC89C2F0BB}" type="parTrans" cxnId="{FD1908FC-D049-452E-8CF4-54C01FBE6DEA}">
      <dgm:prSet/>
      <dgm:spPr/>
      <dgm:t>
        <a:bodyPr/>
        <a:lstStyle/>
        <a:p>
          <a:endParaRPr lang="en-IN"/>
        </a:p>
      </dgm:t>
    </dgm:pt>
    <dgm:pt modelId="{EB57A222-B75E-4591-A708-059D48AF9C3A}" type="sibTrans" cxnId="{FD1908FC-D049-452E-8CF4-54C01FBE6DEA}">
      <dgm:prSet/>
      <dgm:spPr/>
      <dgm:t>
        <a:bodyPr/>
        <a:lstStyle/>
        <a:p>
          <a:endParaRPr lang="en-IN"/>
        </a:p>
      </dgm:t>
    </dgm:pt>
    <dgm:pt modelId="{8CE72AE3-16D2-4714-81EA-017102A8F024}" type="pres">
      <dgm:prSet presAssocID="{EAB3A904-4A65-49CB-B2C2-DC93A30E386D}" presName="Name0" presStyleCnt="0">
        <dgm:presLayoutVars>
          <dgm:dir/>
          <dgm:animLvl val="lvl"/>
          <dgm:resizeHandles val="exact"/>
        </dgm:presLayoutVars>
      </dgm:prSet>
      <dgm:spPr/>
    </dgm:pt>
    <dgm:pt modelId="{6FC1946E-1DD5-4308-8E8D-338533C03892}" type="pres">
      <dgm:prSet presAssocID="{702D59CF-43EF-4F43-AFFF-9BDF4D23F984}" presName="composite" presStyleCnt="0"/>
      <dgm:spPr/>
    </dgm:pt>
    <dgm:pt modelId="{C619AF5D-A504-4764-8C80-81DA1ABFFC82}" type="pres">
      <dgm:prSet presAssocID="{702D59CF-43EF-4F43-AFFF-9BDF4D23F984}" presName="parTx" presStyleLbl="alignNode1" presStyleIdx="0" presStyleCnt="2">
        <dgm:presLayoutVars>
          <dgm:chMax val="0"/>
          <dgm:chPref val="0"/>
          <dgm:bulletEnabled val="1"/>
        </dgm:presLayoutVars>
      </dgm:prSet>
      <dgm:spPr/>
    </dgm:pt>
    <dgm:pt modelId="{C2FC9338-B780-4ED8-A55B-ED8C68E839EC}" type="pres">
      <dgm:prSet presAssocID="{702D59CF-43EF-4F43-AFFF-9BDF4D23F984}" presName="desTx" presStyleLbl="alignAccFollowNode1" presStyleIdx="0" presStyleCnt="2">
        <dgm:presLayoutVars>
          <dgm:bulletEnabled val="1"/>
        </dgm:presLayoutVars>
      </dgm:prSet>
      <dgm:spPr/>
    </dgm:pt>
    <dgm:pt modelId="{37998403-7B73-4B29-A1B1-21ED34A59FF8}" type="pres">
      <dgm:prSet presAssocID="{72FF4F5A-60B8-4D45-9CAD-B172BEC6714C}" presName="space" presStyleCnt="0"/>
      <dgm:spPr/>
    </dgm:pt>
    <dgm:pt modelId="{C662D72F-80D6-4F6A-98B1-7DE4606993EF}" type="pres">
      <dgm:prSet presAssocID="{FD80CDCC-102F-4F97-81E6-2D39F851B19F}" presName="composite" presStyleCnt="0"/>
      <dgm:spPr/>
    </dgm:pt>
    <dgm:pt modelId="{D20759BA-D60E-428F-A6A0-AC3E2DEE0F7B}" type="pres">
      <dgm:prSet presAssocID="{FD80CDCC-102F-4F97-81E6-2D39F851B19F}" presName="parTx" presStyleLbl="alignNode1" presStyleIdx="1" presStyleCnt="2">
        <dgm:presLayoutVars>
          <dgm:chMax val="0"/>
          <dgm:chPref val="0"/>
          <dgm:bulletEnabled val="1"/>
        </dgm:presLayoutVars>
      </dgm:prSet>
      <dgm:spPr/>
    </dgm:pt>
    <dgm:pt modelId="{AE51B863-4C0B-4146-AD33-7FF69B92C21E}" type="pres">
      <dgm:prSet presAssocID="{FD80CDCC-102F-4F97-81E6-2D39F851B19F}" presName="desTx" presStyleLbl="alignAccFollowNode1" presStyleIdx="1" presStyleCnt="2">
        <dgm:presLayoutVars>
          <dgm:bulletEnabled val="1"/>
        </dgm:presLayoutVars>
      </dgm:prSet>
      <dgm:spPr/>
    </dgm:pt>
  </dgm:ptLst>
  <dgm:cxnLst>
    <dgm:cxn modelId="{4D085F10-4225-49DD-979C-D4EF5E57BD21}" srcId="{FD80CDCC-102F-4F97-81E6-2D39F851B19F}" destId="{82DFE8A0-DC66-47F4-BFEE-A241BF76E51D}" srcOrd="0" destOrd="0" parTransId="{17034C98-31D2-402C-909B-3FAE761FB970}" sibTransId="{4F6A98B0-7029-43C4-9502-6AE93B82A54C}"/>
    <dgm:cxn modelId="{C8FCC318-415F-48AE-8C43-84DFD7A19CE6}" type="presOf" srcId="{1C9D8C76-1019-4673-8979-BAA57BDADB9B}" destId="{C2FC9338-B780-4ED8-A55B-ED8C68E839EC}" srcOrd="0" destOrd="1" presId="urn:microsoft.com/office/officeart/2005/8/layout/hList1"/>
    <dgm:cxn modelId="{BCA62224-5DCD-4FF3-BA28-80D1E68DBB2A}" srcId="{FD80CDCC-102F-4F97-81E6-2D39F851B19F}" destId="{93882F84-D8D2-4329-93D0-120796705BD7}" srcOrd="3" destOrd="0" parTransId="{34B3437F-8BEE-4F6C-8C3A-C6BE6D3C9101}" sibTransId="{F2EC116C-12C8-4445-9B40-096701FA799C}"/>
    <dgm:cxn modelId="{9DE9DC25-CCE6-4A44-B977-45863743A563}" type="presOf" srcId="{702D59CF-43EF-4F43-AFFF-9BDF4D23F984}" destId="{C619AF5D-A504-4764-8C80-81DA1ABFFC82}" srcOrd="0" destOrd="0" presId="urn:microsoft.com/office/officeart/2005/8/layout/hList1"/>
    <dgm:cxn modelId="{BD85D834-C109-4F8C-A82B-E80221E40744}" type="presOf" srcId="{82DFE8A0-DC66-47F4-BFEE-A241BF76E51D}" destId="{AE51B863-4C0B-4146-AD33-7FF69B92C21E}" srcOrd="0" destOrd="0" presId="urn:microsoft.com/office/officeart/2005/8/layout/hList1"/>
    <dgm:cxn modelId="{5D764B5E-F9E5-482D-9C83-7313631E7BA4}" type="presOf" srcId="{93882F84-D8D2-4329-93D0-120796705BD7}" destId="{AE51B863-4C0B-4146-AD33-7FF69B92C21E}" srcOrd="0" destOrd="3" presId="urn:microsoft.com/office/officeart/2005/8/layout/hList1"/>
    <dgm:cxn modelId="{E8550441-F2D5-47C7-9BC0-04FF197F1BC1}" type="presOf" srcId="{FD2E964E-C771-4B09-B267-25931EB405D6}" destId="{C2FC9338-B780-4ED8-A55B-ED8C68E839EC}" srcOrd="0" destOrd="2" presId="urn:microsoft.com/office/officeart/2005/8/layout/hList1"/>
    <dgm:cxn modelId="{12B95F6C-92E5-4ADA-8770-747E3F549660}" type="presOf" srcId="{D8DAA8FA-9572-473C-8E06-A45341AE56CE}" destId="{C2FC9338-B780-4ED8-A55B-ED8C68E839EC}" srcOrd="0" destOrd="4" presId="urn:microsoft.com/office/officeart/2005/8/layout/hList1"/>
    <dgm:cxn modelId="{85AE4157-C0B4-4754-8F43-83CFD6611D06}" type="presOf" srcId="{FD80CDCC-102F-4F97-81E6-2D39F851B19F}" destId="{D20759BA-D60E-428F-A6A0-AC3E2DEE0F7B}" srcOrd="0" destOrd="0" presId="urn:microsoft.com/office/officeart/2005/8/layout/hList1"/>
    <dgm:cxn modelId="{B0CFBF83-D2BC-4DAD-B83E-306571C4F8CD}" type="presOf" srcId="{0AC803C9-5AC1-4A18-9691-58415A55E0A0}" destId="{AE51B863-4C0B-4146-AD33-7FF69B92C21E}" srcOrd="0" destOrd="4" presId="urn:microsoft.com/office/officeart/2005/8/layout/hList1"/>
    <dgm:cxn modelId="{73C8E985-FF67-4195-A1C8-9A5BDB6926FF}" type="presOf" srcId="{19926F51-0B0E-4293-A203-0025D9A3233F}" destId="{AE51B863-4C0B-4146-AD33-7FF69B92C21E}" srcOrd="0" destOrd="2" presId="urn:microsoft.com/office/officeart/2005/8/layout/hList1"/>
    <dgm:cxn modelId="{421D9C8D-DC92-4E03-B2A2-0C018CCB636B}" srcId="{FD80CDCC-102F-4F97-81E6-2D39F851B19F}" destId="{19926F51-0B0E-4293-A203-0025D9A3233F}" srcOrd="2" destOrd="0" parTransId="{F1C0B3AC-35EE-4C61-8A7B-6339503624B7}" sibTransId="{122F52CA-7912-4823-A3D2-EBF80A615811}"/>
    <dgm:cxn modelId="{6CB5F999-659A-429F-AE2D-9FF9CACD76BC}" srcId="{EAB3A904-4A65-49CB-B2C2-DC93A30E386D}" destId="{702D59CF-43EF-4F43-AFFF-9BDF4D23F984}" srcOrd="0" destOrd="0" parTransId="{DEB54A67-07AF-419E-9009-15FAE3D51E22}" sibTransId="{72FF4F5A-60B8-4D45-9CAD-B172BEC6714C}"/>
    <dgm:cxn modelId="{A881DE9D-56F5-4E59-9442-0DFD28395697}" type="presOf" srcId="{EAB3A904-4A65-49CB-B2C2-DC93A30E386D}" destId="{8CE72AE3-16D2-4714-81EA-017102A8F024}" srcOrd="0" destOrd="0" presId="urn:microsoft.com/office/officeart/2005/8/layout/hList1"/>
    <dgm:cxn modelId="{C9E3E0A8-DC86-450A-B804-08CE0256D43C}" type="presOf" srcId="{5A819386-3723-43E3-9A77-B23B62EC1ACE}" destId="{C2FC9338-B780-4ED8-A55B-ED8C68E839EC}" srcOrd="0" destOrd="3" presId="urn:microsoft.com/office/officeart/2005/8/layout/hList1"/>
    <dgm:cxn modelId="{255375BA-EF62-47B0-A4CF-E9D777D83DEE}" srcId="{702D59CF-43EF-4F43-AFFF-9BDF4D23F984}" destId="{1C9D8C76-1019-4673-8979-BAA57BDADB9B}" srcOrd="1" destOrd="0" parTransId="{560553E3-0F3B-44A3-9F3C-440BA8BC4DBE}" sibTransId="{7A5CD2EF-6741-4F6E-BA7B-3A077E2661CC}"/>
    <dgm:cxn modelId="{87EB6CBC-4D0A-4BD1-A3E2-039A543BE1C0}" srcId="{EAB3A904-4A65-49CB-B2C2-DC93A30E386D}" destId="{FD80CDCC-102F-4F97-81E6-2D39F851B19F}" srcOrd="1" destOrd="0" parTransId="{5A48358A-5F83-462F-A02B-BF7B35AB6841}" sibTransId="{8B2DBB31-8E23-45DE-8F57-66BF9A909CB6}"/>
    <dgm:cxn modelId="{CF9F63C3-7DD2-43E6-BA6E-5BD12416588A}" srcId="{702D59CF-43EF-4F43-AFFF-9BDF4D23F984}" destId="{5A819386-3723-43E3-9A77-B23B62EC1ACE}" srcOrd="3" destOrd="0" parTransId="{FDBA990C-D3E8-4920-B9BB-ADE4E4B40B67}" sibTransId="{32CD06A9-53F8-4CAB-8FE9-A69342BD5DB1}"/>
    <dgm:cxn modelId="{CA2654CC-90F2-472E-8FFE-F69E15E77640}" type="presOf" srcId="{68A17C4B-CCC1-498C-8B5D-E450D02A18AC}" destId="{C2FC9338-B780-4ED8-A55B-ED8C68E839EC}" srcOrd="0" destOrd="0" presId="urn:microsoft.com/office/officeart/2005/8/layout/hList1"/>
    <dgm:cxn modelId="{FFB2E5D8-F7B8-4238-9935-6B3658EE157D}" type="presOf" srcId="{F289C409-F57C-42DF-A4C4-34FD0F20231D}" destId="{AE51B863-4C0B-4146-AD33-7FF69B92C21E}" srcOrd="0" destOrd="1" presId="urn:microsoft.com/office/officeart/2005/8/layout/hList1"/>
    <dgm:cxn modelId="{C000E2DA-541F-4419-ADA2-607BF4E00BCE}" srcId="{702D59CF-43EF-4F43-AFFF-9BDF4D23F984}" destId="{FD2E964E-C771-4B09-B267-25931EB405D6}" srcOrd="2" destOrd="0" parTransId="{8FB5D78B-F2AC-4AAC-800B-ACE070C4D26F}" sibTransId="{2D5909B4-4F4B-4929-8B61-51C29CF99C95}"/>
    <dgm:cxn modelId="{2EA17CF0-F661-4067-9DDD-CE5003885BF0}" srcId="{702D59CF-43EF-4F43-AFFF-9BDF4D23F984}" destId="{D8DAA8FA-9572-473C-8E06-A45341AE56CE}" srcOrd="4" destOrd="0" parTransId="{96B43F13-8A7C-4B88-8FA0-416091F47157}" sibTransId="{1EAD8868-B427-44FC-A432-BC712C807F15}"/>
    <dgm:cxn modelId="{4D0507F9-E457-4562-A9B3-E17022AF5EE0}" srcId="{702D59CF-43EF-4F43-AFFF-9BDF4D23F984}" destId="{68A17C4B-CCC1-498C-8B5D-E450D02A18AC}" srcOrd="0" destOrd="0" parTransId="{C0CCAA8D-9DF9-48C8-A13C-EB25235A3943}" sibTransId="{56E02EE9-7F89-4058-8363-F2648D9A389D}"/>
    <dgm:cxn modelId="{FD1908FC-D049-452E-8CF4-54C01FBE6DEA}" srcId="{FD80CDCC-102F-4F97-81E6-2D39F851B19F}" destId="{0AC803C9-5AC1-4A18-9691-58415A55E0A0}" srcOrd="4" destOrd="0" parTransId="{187D31C7-D1D8-4409-8E2A-F2DC89C2F0BB}" sibTransId="{EB57A222-B75E-4591-A708-059D48AF9C3A}"/>
    <dgm:cxn modelId="{FA5AC8FD-C41E-405B-9134-7F7BCC7708A1}" srcId="{FD80CDCC-102F-4F97-81E6-2D39F851B19F}" destId="{F289C409-F57C-42DF-A4C4-34FD0F20231D}" srcOrd="1" destOrd="0" parTransId="{02CB23FC-EA04-4765-AB9F-365198CFCA2C}" sibTransId="{453E3053-1B58-4CA8-840D-A15AB1B578A7}"/>
    <dgm:cxn modelId="{294E6150-D774-4802-8874-E80982727497}" type="presParOf" srcId="{8CE72AE3-16D2-4714-81EA-017102A8F024}" destId="{6FC1946E-1DD5-4308-8E8D-338533C03892}" srcOrd="0" destOrd="0" presId="urn:microsoft.com/office/officeart/2005/8/layout/hList1"/>
    <dgm:cxn modelId="{3D0CD951-5AE7-44C1-B18F-B84B792B033C}" type="presParOf" srcId="{6FC1946E-1DD5-4308-8E8D-338533C03892}" destId="{C619AF5D-A504-4764-8C80-81DA1ABFFC82}" srcOrd="0" destOrd="0" presId="urn:microsoft.com/office/officeart/2005/8/layout/hList1"/>
    <dgm:cxn modelId="{699314DB-1AD2-4CAF-BDE4-C5879E9C1038}" type="presParOf" srcId="{6FC1946E-1DD5-4308-8E8D-338533C03892}" destId="{C2FC9338-B780-4ED8-A55B-ED8C68E839EC}" srcOrd="1" destOrd="0" presId="urn:microsoft.com/office/officeart/2005/8/layout/hList1"/>
    <dgm:cxn modelId="{5E06E658-37BF-4B4E-9C8C-5D63679A2072}" type="presParOf" srcId="{8CE72AE3-16D2-4714-81EA-017102A8F024}" destId="{37998403-7B73-4B29-A1B1-21ED34A59FF8}" srcOrd="1" destOrd="0" presId="urn:microsoft.com/office/officeart/2005/8/layout/hList1"/>
    <dgm:cxn modelId="{B72B4F72-EE57-4B0A-AE62-D97888507642}" type="presParOf" srcId="{8CE72AE3-16D2-4714-81EA-017102A8F024}" destId="{C662D72F-80D6-4F6A-98B1-7DE4606993EF}" srcOrd="2" destOrd="0" presId="urn:microsoft.com/office/officeart/2005/8/layout/hList1"/>
    <dgm:cxn modelId="{7463577E-A78D-4C7D-870C-17C5C42C8D98}" type="presParOf" srcId="{C662D72F-80D6-4F6A-98B1-7DE4606993EF}" destId="{D20759BA-D60E-428F-A6A0-AC3E2DEE0F7B}" srcOrd="0" destOrd="0" presId="urn:microsoft.com/office/officeart/2005/8/layout/hList1"/>
    <dgm:cxn modelId="{2B155FDF-9BD9-4759-B98B-2D6F92459AEB}" type="presParOf" srcId="{C662D72F-80D6-4F6A-98B1-7DE4606993EF}" destId="{AE51B863-4C0B-4146-AD33-7FF69B92C21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7C7DD-EF81-4EEC-BDEA-D2F5BA091FF1}">
      <dsp:nvSpPr>
        <dsp:cNvPr id="0" name=""/>
        <dsp:cNvSpPr/>
      </dsp:nvSpPr>
      <dsp:spPr>
        <a:xfrm>
          <a:off x="419096" y="0"/>
          <a:ext cx="3810007" cy="114300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555750">
            <a:lnSpc>
              <a:spcPct val="90000"/>
            </a:lnSpc>
            <a:spcBef>
              <a:spcPct val="0"/>
            </a:spcBef>
            <a:spcAft>
              <a:spcPct val="35000"/>
            </a:spcAft>
            <a:buNone/>
          </a:pPr>
          <a:r>
            <a:rPr lang="en-IN" sz="3500" b="1" kern="1200" dirty="0"/>
            <a:t>PROJECT TITLE</a:t>
          </a:r>
          <a:endParaRPr lang="en-IN" sz="3500" kern="1200" dirty="0"/>
        </a:p>
      </dsp:txBody>
      <dsp:txXfrm>
        <a:off x="977059" y="167388"/>
        <a:ext cx="2694081" cy="808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5CD97-018C-4B8E-8A36-81AD0969C3D1}">
      <dsp:nvSpPr>
        <dsp:cNvPr id="0" name=""/>
        <dsp:cNvSpPr/>
      </dsp:nvSpPr>
      <dsp:spPr>
        <a:xfrm rot="10800000">
          <a:off x="-2" y="0"/>
          <a:ext cx="12016413" cy="1750888"/>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72093" tIns="129540" rIns="241808" bIns="129540" numCol="1" spcCol="1270" anchor="ctr" anchorCtr="0">
          <a:noAutofit/>
        </a:bodyPr>
        <a:lstStyle/>
        <a:p>
          <a:pPr marL="0" lvl="0" indent="0" algn="ctr" defTabSz="1511300">
            <a:lnSpc>
              <a:spcPct val="90000"/>
            </a:lnSpc>
            <a:spcBef>
              <a:spcPct val="0"/>
            </a:spcBef>
            <a:spcAft>
              <a:spcPct val="35000"/>
            </a:spcAft>
            <a:buNone/>
          </a:pPr>
          <a:r>
            <a:rPr lang="en-IN" sz="3400" kern="1200" dirty="0"/>
            <a:t>  “ENHANCING ACCIDENT PREDICTION THROUGH INTEGRATED KNN AND DBSCAN ALGORITHMS FOR SUPERIOR ACCURACY”</a:t>
          </a:r>
        </a:p>
      </dsp:txBody>
      <dsp:txXfrm rot="10800000">
        <a:off x="437720" y="0"/>
        <a:ext cx="11578691" cy="1750888"/>
      </dsp:txXfrm>
    </dsp:sp>
    <dsp:sp modelId="{342D27AE-0E49-4CCC-A9B4-2506EBC58B2C}">
      <dsp:nvSpPr>
        <dsp:cNvPr id="0" name=""/>
        <dsp:cNvSpPr/>
      </dsp:nvSpPr>
      <dsp:spPr>
        <a:xfrm>
          <a:off x="434016" y="0"/>
          <a:ext cx="1568708" cy="1750888"/>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6000" r="-6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D74083-0EAD-47C5-8D1F-A32A086546AC}">
      <dsp:nvSpPr>
        <dsp:cNvPr id="0" name=""/>
        <dsp:cNvSpPr/>
      </dsp:nvSpPr>
      <dsp:spPr>
        <a:xfrm rot="5400000">
          <a:off x="7230465" y="-2937547"/>
          <a:ext cx="1187500" cy="73639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IN" sz="2100" kern="1200" dirty="0"/>
            <a:t>Real-world accident dataset with features like location, weather, time, and severity.</a:t>
          </a:r>
        </a:p>
      </dsp:txBody>
      <dsp:txXfrm rot="-5400000">
        <a:off x="4142232" y="208655"/>
        <a:ext cx="7305999" cy="1071562"/>
      </dsp:txXfrm>
    </dsp:sp>
    <dsp:sp modelId="{FCBC7D6F-1DAD-4DBC-BD63-2FCEAC06ABA7}">
      <dsp:nvSpPr>
        <dsp:cNvPr id="0" name=""/>
        <dsp:cNvSpPr/>
      </dsp:nvSpPr>
      <dsp:spPr>
        <a:xfrm>
          <a:off x="0" y="2249"/>
          <a:ext cx="4142232" cy="14843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IN" sz="3000" kern="1200" dirty="0"/>
            <a:t>Step 1: </a:t>
          </a:r>
          <a:r>
            <a:rPr lang="en-IN" sz="3000" b="1" kern="1200" dirty="0"/>
            <a:t>Data Collection</a:t>
          </a:r>
          <a:endParaRPr lang="en-IN" sz="3000" kern="1200" dirty="0"/>
        </a:p>
      </dsp:txBody>
      <dsp:txXfrm>
        <a:off x="72461" y="74710"/>
        <a:ext cx="3997310" cy="1339453"/>
      </dsp:txXfrm>
    </dsp:sp>
    <dsp:sp modelId="{6AB761CB-FD08-4C11-BCFE-F0E1312D206A}">
      <dsp:nvSpPr>
        <dsp:cNvPr id="0" name=""/>
        <dsp:cNvSpPr/>
      </dsp:nvSpPr>
      <dsp:spPr>
        <a:xfrm rot="5400000">
          <a:off x="7230465" y="-1378953"/>
          <a:ext cx="1187500" cy="73639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IN" sz="2100" kern="1200"/>
            <a:t>Handle missing values, normalize numerical data.</a:t>
          </a:r>
        </a:p>
        <a:p>
          <a:pPr marL="228600" lvl="1" indent="-228600" algn="l" defTabSz="933450">
            <a:lnSpc>
              <a:spcPct val="90000"/>
            </a:lnSpc>
            <a:spcBef>
              <a:spcPct val="0"/>
            </a:spcBef>
            <a:spcAft>
              <a:spcPct val="15000"/>
            </a:spcAft>
            <a:buChar char="•"/>
          </a:pPr>
          <a:r>
            <a:rPr lang="en-IN" sz="2100" kern="1200"/>
            <a:t>Encode categorical variables.</a:t>
          </a:r>
        </a:p>
        <a:p>
          <a:pPr marL="228600" lvl="1" indent="-228600" algn="l" defTabSz="933450">
            <a:lnSpc>
              <a:spcPct val="90000"/>
            </a:lnSpc>
            <a:spcBef>
              <a:spcPct val="0"/>
            </a:spcBef>
            <a:spcAft>
              <a:spcPct val="15000"/>
            </a:spcAft>
            <a:buChar char="•"/>
          </a:pPr>
          <a:r>
            <a:rPr lang="en-IN" sz="2100" kern="1200" dirty="0"/>
            <a:t>Remove irrelevant or redundant attributes.</a:t>
          </a:r>
        </a:p>
      </dsp:txBody>
      <dsp:txXfrm rot="-5400000">
        <a:off x="4142232" y="1767249"/>
        <a:ext cx="7305999" cy="1071562"/>
      </dsp:txXfrm>
    </dsp:sp>
    <dsp:sp modelId="{652EAEF3-9BB9-487A-A6AC-3740358E37C7}">
      <dsp:nvSpPr>
        <dsp:cNvPr id="0" name=""/>
        <dsp:cNvSpPr/>
      </dsp:nvSpPr>
      <dsp:spPr>
        <a:xfrm>
          <a:off x="0" y="1560843"/>
          <a:ext cx="4142232" cy="14843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IN" sz="3000" kern="1200"/>
            <a:t>Step 2: </a:t>
          </a:r>
          <a:r>
            <a:rPr lang="en-IN" sz="3000" b="1" kern="1200"/>
            <a:t>Data Preprocessing</a:t>
          </a:r>
          <a:endParaRPr lang="en-IN" sz="3000" kern="1200"/>
        </a:p>
      </dsp:txBody>
      <dsp:txXfrm>
        <a:off x="72461" y="1633304"/>
        <a:ext cx="3997310" cy="1339453"/>
      </dsp:txXfrm>
    </dsp:sp>
    <dsp:sp modelId="{D46B8F2D-7681-472F-A375-4C5108F733B7}">
      <dsp:nvSpPr>
        <dsp:cNvPr id="0" name=""/>
        <dsp:cNvSpPr/>
      </dsp:nvSpPr>
      <dsp:spPr>
        <a:xfrm rot="5400000">
          <a:off x="7230465" y="179641"/>
          <a:ext cx="1187500" cy="73639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40005" rIns="80010" bIns="40005" numCol="1" spcCol="1270" anchor="ctr" anchorCtr="0">
          <a:noAutofit/>
        </a:bodyPr>
        <a:lstStyle/>
        <a:p>
          <a:pPr marL="228600" lvl="1" indent="-228600" algn="l" defTabSz="933450">
            <a:lnSpc>
              <a:spcPct val="90000"/>
            </a:lnSpc>
            <a:spcBef>
              <a:spcPct val="0"/>
            </a:spcBef>
            <a:spcAft>
              <a:spcPct val="15000"/>
            </a:spcAft>
            <a:buChar char="•"/>
          </a:pPr>
          <a:r>
            <a:rPr lang="en-IN" sz="2100" kern="1200" dirty="0"/>
            <a:t>DBSCAN identifies </a:t>
          </a:r>
          <a:r>
            <a:rPr lang="en-IN" sz="2100" b="1" kern="1200" dirty="0"/>
            <a:t>dense clusters </a:t>
          </a:r>
          <a:r>
            <a:rPr lang="en-IN" sz="2100" kern="1200" dirty="0"/>
            <a:t>and filters </a:t>
          </a:r>
          <a:r>
            <a:rPr lang="en-IN" sz="2100" b="1" kern="1200" dirty="0"/>
            <a:t>outliers/noise</a:t>
          </a:r>
          <a:r>
            <a:rPr lang="en-IN" sz="2100" kern="1200" dirty="0"/>
            <a:t>.</a:t>
          </a:r>
        </a:p>
        <a:p>
          <a:pPr marL="228600" lvl="1" indent="-228600" algn="l" defTabSz="933450">
            <a:lnSpc>
              <a:spcPct val="90000"/>
            </a:lnSpc>
            <a:spcBef>
              <a:spcPct val="0"/>
            </a:spcBef>
            <a:spcAft>
              <a:spcPct val="15000"/>
            </a:spcAft>
            <a:buChar char="•"/>
          </a:pPr>
          <a:r>
            <a:rPr lang="en-IN" sz="2100" kern="1200"/>
            <a:t>Improves data quality before classification.</a:t>
          </a:r>
        </a:p>
      </dsp:txBody>
      <dsp:txXfrm rot="-5400000">
        <a:off x="4142232" y="3325844"/>
        <a:ext cx="7305999" cy="1071562"/>
      </dsp:txXfrm>
    </dsp:sp>
    <dsp:sp modelId="{92C79582-CE3A-4ECD-B158-D4E3D744DC07}">
      <dsp:nvSpPr>
        <dsp:cNvPr id="0" name=""/>
        <dsp:cNvSpPr/>
      </dsp:nvSpPr>
      <dsp:spPr>
        <a:xfrm>
          <a:off x="0" y="3119437"/>
          <a:ext cx="4142232" cy="148437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IN" sz="3000" kern="1200"/>
            <a:t>Step 3: </a:t>
          </a:r>
          <a:r>
            <a:rPr lang="en-IN" sz="3000" b="1" kern="1200"/>
            <a:t>Noise Detection using DBSCAN</a:t>
          </a:r>
          <a:endParaRPr lang="en-IN" sz="3000" kern="1200"/>
        </a:p>
      </dsp:txBody>
      <dsp:txXfrm>
        <a:off x="72461" y="3191898"/>
        <a:ext cx="3997310" cy="133945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28217-BFBF-423C-9FCD-9B50DC9CEA4F}">
      <dsp:nvSpPr>
        <dsp:cNvPr id="0" name=""/>
        <dsp:cNvSpPr/>
      </dsp:nvSpPr>
      <dsp:spPr>
        <a:xfrm rot="5400000">
          <a:off x="7131224" y="-2894284"/>
          <a:ext cx="1178718" cy="726643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IN" sz="2200" b="1" i="0" kern="1200"/>
            <a:t>KNN classifies severity based on nearest neighbors.</a:t>
          </a:r>
          <a:endParaRPr lang="en-IN" sz="2200" kern="1200"/>
        </a:p>
        <a:p>
          <a:pPr marL="228600" lvl="1" indent="-228600" algn="l" defTabSz="977900">
            <a:lnSpc>
              <a:spcPct val="90000"/>
            </a:lnSpc>
            <a:spcBef>
              <a:spcPct val="0"/>
            </a:spcBef>
            <a:spcAft>
              <a:spcPct val="15000"/>
            </a:spcAft>
            <a:buChar char="•"/>
          </a:pPr>
          <a:r>
            <a:rPr lang="en-IN" sz="2200" b="1" i="0" kern="1200"/>
            <a:t>Works on DBSCAN-cleaned data for better accuracy.</a:t>
          </a:r>
          <a:endParaRPr lang="en-IN" sz="2200" kern="1200"/>
        </a:p>
      </dsp:txBody>
      <dsp:txXfrm rot="-5400000">
        <a:off x="4087367" y="207113"/>
        <a:ext cx="7208892" cy="1063638"/>
      </dsp:txXfrm>
    </dsp:sp>
    <dsp:sp modelId="{67BC000F-27E2-41D5-8D27-1110B02EF1D6}">
      <dsp:nvSpPr>
        <dsp:cNvPr id="0" name=""/>
        <dsp:cNvSpPr/>
      </dsp:nvSpPr>
      <dsp:spPr>
        <a:xfrm>
          <a:off x="0" y="2232"/>
          <a:ext cx="4087368" cy="14733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0" i="0" kern="1200"/>
            <a:t>Step 4:</a:t>
          </a:r>
          <a:r>
            <a:rPr lang="en-IN" sz="2900" b="1" i="0" kern="1200"/>
            <a:t> Severity Classification using KNN</a:t>
          </a:r>
          <a:endParaRPr lang="en-IN" sz="2900" kern="1200"/>
        </a:p>
      </dsp:txBody>
      <dsp:txXfrm>
        <a:off x="71925" y="74157"/>
        <a:ext cx="3943518" cy="1329548"/>
      </dsp:txXfrm>
    </dsp:sp>
    <dsp:sp modelId="{84643A93-79D6-4166-9B3A-8537254FD7B8}">
      <dsp:nvSpPr>
        <dsp:cNvPr id="0" name=""/>
        <dsp:cNvSpPr/>
      </dsp:nvSpPr>
      <dsp:spPr>
        <a:xfrm rot="5400000">
          <a:off x="7131224" y="-1347216"/>
          <a:ext cx="1178718" cy="726643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IN" sz="2200" b="1" i="0" kern="1200"/>
            <a:t>Use metrics like accuracy, precision, recall, and F1-score.</a:t>
          </a:r>
          <a:endParaRPr lang="en-IN" sz="2200" kern="1200"/>
        </a:p>
        <a:p>
          <a:pPr marL="228600" lvl="1" indent="-228600" algn="l" defTabSz="977900">
            <a:lnSpc>
              <a:spcPct val="90000"/>
            </a:lnSpc>
            <a:spcBef>
              <a:spcPct val="0"/>
            </a:spcBef>
            <a:spcAft>
              <a:spcPct val="15000"/>
            </a:spcAft>
            <a:buChar char="•"/>
          </a:pPr>
          <a:r>
            <a:rPr lang="en-IN" sz="2200" b="1" i="0" kern="1200" dirty="0"/>
            <a:t>Compare hybrid model with standalone KNN and DBSCAN.</a:t>
          </a:r>
          <a:endParaRPr lang="en-IN" sz="2200" kern="1200" dirty="0"/>
        </a:p>
      </dsp:txBody>
      <dsp:txXfrm rot="-5400000">
        <a:off x="4087367" y="1754181"/>
        <a:ext cx="7208892" cy="1063638"/>
      </dsp:txXfrm>
    </dsp:sp>
    <dsp:sp modelId="{C5AA7610-92EA-497A-B54F-F9F90A70FF4D}">
      <dsp:nvSpPr>
        <dsp:cNvPr id="0" name=""/>
        <dsp:cNvSpPr/>
      </dsp:nvSpPr>
      <dsp:spPr>
        <a:xfrm>
          <a:off x="0" y="1549300"/>
          <a:ext cx="4087368" cy="14733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0" i="0" kern="1200"/>
            <a:t>Step 5:</a:t>
          </a:r>
          <a:r>
            <a:rPr lang="en-IN" sz="2900" b="1" i="0" kern="1200"/>
            <a:t> Model Evaluation</a:t>
          </a:r>
          <a:endParaRPr lang="en-IN" sz="2900" kern="1200"/>
        </a:p>
      </dsp:txBody>
      <dsp:txXfrm>
        <a:off x="71925" y="1621225"/>
        <a:ext cx="3943518" cy="1329548"/>
      </dsp:txXfrm>
    </dsp:sp>
    <dsp:sp modelId="{C87BF107-0043-4A65-8E55-C3DBD28632D9}">
      <dsp:nvSpPr>
        <dsp:cNvPr id="0" name=""/>
        <dsp:cNvSpPr/>
      </dsp:nvSpPr>
      <dsp:spPr>
        <a:xfrm rot="5400000">
          <a:off x="7131224" y="199852"/>
          <a:ext cx="1178718" cy="726643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IN" sz="2200" b="1" i="0" kern="1200"/>
            <a:t>Final model supports predictive insights for accident management systems.</a:t>
          </a:r>
          <a:endParaRPr lang="en-IN" sz="2200" kern="1200"/>
        </a:p>
      </dsp:txBody>
      <dsp:txXfrm rot="-5400000">
        <a:off x="4087367" y="3301249"/>
        <a:ext cx="7208892" cy="1063638"/>
      </dsp:txXfrm>
    </dsp:sp>
    <dsp:sp modelId="{C973AFF3-93BA-433A-A3CA-3BEA63F77553}">
      <dsp:nvSpPr>
        <dsp:cNvPr id="0" name=""/>
        <dsp:cNvSpPr/>
      </dsp:nvSpPr>
      <dsp:spPr>
        <a:xfrm>
          <a:off x="0" y="3096369"/>
          <a:ext cx="4087368" cy="147339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55245" rIns="110490" bIns="55245" numCol="1" spcCol="1270" anchor="ctr" anchorCtr="0">
          <a:noAutofit/>
        </a:bodyPr>
        <a:lstStyle/>
        <a:p>
          <a:pPr marL="0" lvl="0" indent="0" algn="ctr" defTabSz="1289050">
            <a:lnSpc>
              <a:spcPct val="90000"/>
            </a:lnSpc>
            <a:spcBef>
              <a:spcPct val="0"/>
            </a:spcBef>
            <a:spcAft>
              <a:spcPct val="35000"/>
            </a:spcAft>
            <a:buNone/>
          </a:pPr>
          <a:r>
            <a:rPr lang="en-IN" sz="2900" b="0" i="0" kern="1200" dirty="0"/>
            <a:t>Step 6:</a:t>
          </a:r>
          <a:r>
            <a:rPr lang="en-IN" sz="2900" b="1" i="0" kern="1200" dirty="0"/>
            <a:t> Conclusion &amp; Integration</a:t>
          </a:r>
          <a:endParaRPr lang="en-IN" sz="2900" kern="1200" dirty="0"/>
        </a:p>
      </dsp:txBody>
      <dsp:txXfrm>
        <a:off x="71925" y="3168294"/>
        <a:ext cx="3943518" cy="13295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19AF5D-A504-4764-8C80-81DA1ABFFC82}">
      <dsp:nvSpPr>
        <dsp:cNvPr id="0" name=""/>
        <dsp:cNvSpPr/>
      </dsp:nvSpPr>
      <dsp:spPr>
        <a:xfrm>
          <a:off x="56" y="63374"/>
          <a:ext cx="5412283"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1" i="0" kern="1200"/>
            <a:t>Advantages:</a:t>
          </a:r>
          <a:endParaRPr lang="en-IN" sz="2900" kern="1200"/>
        </a:p>
      </dsp:txBody>
      <dsp:txXfrm>
        <a:off x="56" y="63374"/>
        <a:ext cx="5412283" cy="835200"/>
      </dsp:txXfrm>
    </dsp:sp>
    <dsp:sp modelId="{C2FC9338-B780-4ED8-A55B-ED8C68E839EC}">
      <dsp:nvSpPr>
        <dsp:cNvPr id="0" name=""/>
        <dsp:cNvSpPr/>
      </dsp:nvSpPr>
      <dsp:spPr>
        <a:xfrm>
          <a:off x="56" y="898574"/>
          <a:ext cx="5412283" cy="557235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r>
            <a:rPr lang="en-US" sz="2900" b="0" i="0" kern="1200"/>
            <a:t>Predicts accidents more accurately than using KNN or DBSCAN alone.</a:t>
          </a:r>
          <a:endParaRPr lang="en-IN" sz="2900" kern="1200"/>
        </a:p>
        <a:p>
          <a:pPr marL="285750" lvl="1" indent="-285750" algn="l" defTabSz="1289050">
            <a:lnSpc>
              <a:spcPct val="90000"/>
            </a:lnSpc>
            <a:spcBef>
              <a:spcPct val="0"/>
            </a:spcBef>
            <a:spcAft>
              <a:spcPct val="15000"/>
            </a:spcAft>
            <a:buChar char="•"/>
          </a:pPr>
          <a:r>
            <a:rPr lang="en-US" sz="2900" b="0" i="0" kern="1200" dirty="0"/>
            <a:t>Can handle noisy or unusual data well.</a:t>
          </a:r>
          <a:endParaRPr lang="en-IN" sz="2900" kern="1200" dirty="0"/>
        </a:p>
        <a:p>
          <a:pPr marL="285750" lvl="1" indent="-285750" algn="l" defTabSz="1289050">
            <a:lnSpc>
              <a:spcPct val="90000"/>
            </a:lnSpc>
            <a:spcBef>
              <a:spcPct val="0"/>
            </a:spcBef>
            <a:spcAft>
              <a:spcPct val="15000"/>
            </a:spcAft>
            <a:buChar char="•"/>
          </a:pPr>
          <a:r>
            <a:rPr lang="en-US" sz="2900" b="0" i="0" kern="1200"/>
            <a:t>Works on different types of traffic data.</a:t>
          </a:r>
          <a:endParaRPr lang="en-IN" sz="2900" kern="1200"/>
        </a:p>
        <a:p>
          <a:pPr marL="285750" lvl="1" indent="-285750" algn="l" defTabSz="1289050">
            <a:lnSpc>
              <a:spcPct val="90000"/>
            </a:lnSpc>
            <a:spcBef>
              <a:spcPct val="0"/>
            </a:spcBef>
            <a:spcAft>
              <a:spcPct val="15000"/>
            </a:spcAft>
            <a:buChar char="•"/>
          </a:pPr>
          <a:r>
            <a:rPr lang="en-US" sz="2900" b="0" i="0" kern="1200"/>
            <a:t>Helps with faster emergency response and resource planning.</a:t>
          </a:r>
          <a:endParaRPr lang="en-IN" sz="2900" kern="1200"/>
        </a:p>
        <a:p>
          <a:pPr marL="285750" lvl="1" indent="-285750" algn="l" defTabSz="1289050">
            <a:lnSpc>
              <a:spcPct val="90000"/>
            </a:lnSpc>
            <a:spcBef>
              <a:spcPct val="0"/>
            </a:spcBef>
            <a:spcAft>
              <a:spcPct val="15000"/>
            </a:spcAft>
            <a:buChar char="•"/>
          </a:pPr>
          <a:r>
            <a:rPr lang="en-US" sz="2900" b="0" i="0" kern="1200"/>
            <a:t>Can use sensor data for smarter traffic safety.</a:t>
          </a:r>
          <a:endParaRPr lang="en-IN" sz="2900" kern="1200"/>
        </a:p>
      </dsp:txBody>
      <dsp:txXfrm>
        <a:off x="56" y="898574"/>
        <a:ext cx="5412283" cy="5572350"/>
      </dsp:txXfrm>
    </dsp:sp>
    <dsp:sp modelId="{D20759BA-D60E-428F-A6A0-AC3E2DEE0F7B}">
      <dsp:nvSpPr>
        <dsp:cNvPr id="0" name=""/>
        <dsp:cNvSpPr/>
      </dsp:nvSpPr>
      <dsp:spPr>
        <a:xfrm>
          <a:off x="6170059" y="63374"/>
          <a:ext cx="5412283"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b="1" i="0" kern="1200"/>
            <a:t>Disadvantages:</a:t>
          </a:r>
          <a:endParaRPr lang="en-IN" sz="2900" kern="1200"/>
        </a:p>
      </dsp:txBody>
      <dsp:txXfrm>
        <a:off x="6170059" y="63374"/>
        <a:ext cx="5412283" cy="835200"/>
      </dsp:txXfrm>
    </dsp:sp>
    <dsp:sp modelId="{AE51B863-4C0B-4146-AD33-7FF69B92C21E}">
      <dsp:nvSpPr>
        <dsp:cNvPr id="0" name=""/>
        <dsp:cNvSpPr/>
      </dsp:nvSpPr>
      <dsp:spPr>
        <a:xfrm>
          <a:off x="6170059" y="898574"/>
          <a:ext cx="5412283" cy="557235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r>
            <a:rPr lang="en-US" sz="2900" b="0" i="0" kern="1200"/>
            <a:t>More complex to set up and run.</a:t>
          </a:r>
          <a:endParaRPr lang="en-IN" sz="2900" kern="1200"/>
        </a:p>
        <a:p>
          <a:pPr marL="285750" lvl="1" indent="-285750" algn="l" defTabSz="1289050">
            <a:lnSpc>
              <a:spcPct val="90000"/>
            </a:lnSpc>
            <a:spcBef>
              <a:spcPct val="0"/>
            </a:spcBef>
            <a:spcAft>
              <a:spcPct val="15000"/>
            </a:spcAft>
            <a:buChar char="•"/>
          </a:pPr>
          <a:r>
            <a:rPr lang="en-US" sz="2900" b="0" i="0" kern="1200"/>
            <a:t>Needs more computer power for large data.</a:t>
          </a:r>
          <a:endParaRPr lang="en-IN" sz="2900" kern="1200"/>
        </a:p>
        <a:p>
          <a:pPr marL="285750" lvl="1" indent="-285750" algn="l" defTabSz="1289050">
            <a:lnSpc>
              <a:spcPct val="90000"/>
            </a:lnSpc>
            <a:spcBef>
              <a:spcPct val="0"/>
            </a:spcBef>
            <a:spcAft>
              <a:spcPct val="15000"/>
            </a:spcAft>
            <a:buChar char="•"/>
          </a:pPr>
          <a:r>
            <a:rPr lang="en-US" sz="2900" b="0" i="0" kern="1200" dirty="0"/>
            <a:t>DBSCAN parameters need careful tuning.</a:t>
          </a:r>
          <a:endParaRPr lang="en-IN" sz="2900" kern="1200" dirty="0"/>
        </a:p>
        <a:p>
          <a:pPr marL="285750" lvl="1" indent="-285750" algn="l" defTabSz="1289050">
            <a:lnSpc>
              <a:spcPct val="90000"/>
            </a:lnSpc>
            <a:spcBef>
              <a:spcPct val="0"/>
            </a:spcBef>
            <a:spcAft>
              <a:spcPct val="15000"/>
            </a:spcAft>
            <a:buChar char="•"/>
          </a:pPr>
          <a:r>
            <a:rPr lang="en-US" sz="2900" b="0" i="0" kern="1200"/>
            <a:t>Harder to use in real-time traffic systems.</a:t>
          </a:r>
          <a:endParaRPr lang="en-IN" sz="2900" kern="1200"/>
        </a:p>
        <a:p>
          <a:pPr marL="285750" lvl="1" indent="-285750" algn="l" defTabSz="1289050">
            <a:lnSpc>
              <a:spcPct val="90000"/>
            </a:lnSpc>
            <a:spcBef>
              <a:spcPct val="0"/>
            </a:spcBef>
            <a:spcAft>
              <a:spcPct val="15000"/>
            </a:spcAft>
            <a:buChar char="•"/>
          </a:pPr>
          <a:r>
            <a:rPr lang="en-US" sz="2900" b="0" i="0" kern="1200"/>
            <a:t>May need changes for different cities or road conditions</a:t>
          </a:r>
          <a:r>
            <a:rPr lang="en-US" sz="2900" b="1" i="0" kern="1200"/>
            <a:t>.</a:t>
          </a:r>
          <a:endParaRPr lang="en-IN" sz="2900" kern="1200"/>
        </a:p>
      </dsp:txBody>
      <dsp:txXfrm>
        <a:off x="6170059" y="898574"/>
        <a:ext cx="5412283" cy="557235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75C92D5-2ABB-49B2-A9D8-23E8FFE7237A}" type="datetimeFigureOut">
              <a:rPr lang="en-IN" smtClean="0"/>
              <a:t>09-01-2026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1F3D97A-C1F7-4C33-AB49-F99380DFD8CE}" type="slidenum">
              <a:rPr lang="en-IN" smtClean="0"/>
              <a:t>‹#›</a:t>
            </a:fld>
            <a:endParaRPr lang="en-IN"/>
          </a:p>
        </p:txBody>
      </p:sp>
    </p:spTree>
    <p:extLst>
      <p:ext uri="{BB962C8B-B14F-4D97-AF65-F5344CB8AC3E}">
        <p14:creationId xmlns:p14="http://schemas.microsoft.com/office/powerpoint/2010/main" val="2827256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F3D97A-C1F7-4C33-AB49-F99380DFD8CE}" type="slidenum">
              <a:rPr lang="en-IN" smtClean="0"/>
              <a:t>4</a:t>
            </a:fld>
            <a:endParaRPr lang="en-IN"/>
          </a:p>
        </p:txBody>
      </p:sp>
    </p:spTree>
    <p:extLst>
      <p:ext uri="{BB962C8B-B14F-4D97-AF65-F5344CB8AC3E}">
        <p14:creationId xmlns:p14="http://schemas.microsoft.com/office/powerpoint/2010/main" val="2162043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F3D97A-C1F7-4C33-AB49-F99380DFD8CE}" type="slidenum">
              <a:rPr lang="en-IN" smtClean="0"/>
              <a:t>13</a:t>
            </a:fld>
            <a:endParaRPr lang="en-IN"/>
          </a:p>
        </p:txBody>
      </p:sp>
    </p:spTree>
    <p:extLst>
      <p:ext uri="{BB962C8B-B14F-4D97-AF65-F5344CB8AC3E}">
        <p14:creationId xmlns:p14="http://schemas.microsoft.com/office/powerpoint/2010/main" val="2468657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F3D97A-C1F7-4C33-AB49-F99380DFD8CE}" type="slidenum">
              <a:rPr lang="en-IN" smtClean="0"/>
              <a:t>16</a:t>
            </a:fld>
            <a:endParaRPr lang="en-IN"/>
          </a:p>
        </p:txBody>
      </p:sp>
    </p:spTree>
    <p:extLst>
      <p:ext uri="{BB962C8B-B14F-4D97-AF65-F5344CB8AC3E}">
        <p14:creationId xmlns:p14="http://schemas.microsoft.com/office/powerpoint/2010/main" val="2565985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1">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75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1">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75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1">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14375" y="1571625"/>
            <a:ext cx="3505200" cy="3333750"/>
          </a:xfrm>
          <a:custGeom>
            <a:avLst/>
            <a:gdLst/>
            <a:ahLst/>
            <a:cxnLst/>
            <a:rect l="l" t="t" r="r" b="b"/>
            <a:pathLst>
              <a:path w="3505200" h="3333750">
                <a:moveTo>
                  <a:pt x="2978912" y="0"/>
                </a:moveTo>
                <a:lnTo>
                  <a:pt x="0" y="0"/>
                </a:lnTo>
                <a:lnTo>
                  <a:pt x="0" y="3333750"/>
                </a:lnTo>
                <a:lnTo>
                  <a:pt x="2978912" y="3333750"/>
                </a:lnTo>
                <a:lnTo>
                  <a:pt x="3505200" y="1666875"/>
                </a:lnTo>
                <a:lnTo>
                  <a:pt x="2978912" y="0"/>
                </a:lnTo>
                <a:close/>
              </a:path>
            </a:pathLst>
          </a:custGeom>
          <a:solidFill>
            <a:srgbClr val="40404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750" b="1" i="1">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353050" y="-27940"/>
            <a:ext cx="1641475" cy="449580"/>
          </a:xfrm>
          <a:prstGeom prst="rect">
            <a:avLst/>
          </a:prstGeom>
        </p:spPr>
        <p:txBody>
          <a:bodyPr wrap="square" lIns="0" tIns="0" rIns="0" bIns="0">
            <a:spAutoFit/>
          </a:bodyPr>
          <a:lstStyle>
            <a:lvl1pPr>
              <a:defRPr sz="2750" b="1" i="1">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450210" y="2359660"/>
            <a:ext cx="7459980" cy="1677670"/>
          </a:xfrm>
          <a:prstGeom prst="rect">
            <a:avLst/>
          </a:prstGeom>
        </p:spPr>
        <p:txBody>
          <a:bodyPr wrap="square" lIns="0" tIns="0" rIns="0" bIns="0">
            <a:spAutoFit/>
          </a:bodyPr>
          <a:lstStyle>
            <a:lvl1pPr>
              <a:defRPr sz="275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2199968" y="1846998"/>
            <a:ext cx="7459980" cy="2137765"/>
          </a:xfrm>
          <a:prstGeom prst="rect">
            <a:avLst/>
          </a:prstGeom>
        </p:spPr>
        <p:txBody>
          <a:bodyPr vert="horz" wrap="square" lIns="0" tIns="16510" rIns="0" bIns="0" rtlCol="0">
            <a:spAutoFit/>
          </a:bodyPr>
          <a:lstStyle/>
          <a:p>
            <a:pPr marL="12700">
              <a:lnSpc>
                <a:spcPct val="100000"/>
              </a:lnSpc>
              <a:spcBef>
                <a:spcPts val="130"/>
              </a:spcBef>
            </a:pPr>
            <a:r>
              <a:rPr spc="-25" dirty="0"/>
              <a:t>KALPATARU</a:t>
            </a:r>
            <a:r>
              <a:rPr spc="55" dirty="0"/>
              <a:t> </a:t>
            </a:r>
            <a:r>
              <a:rPr dirty="0"/>
              <a:t>INSTITUTE</a:t>
            </a:r>
            <a:r>
              <a:rPr spc="-15" dirty="0"/>
              <a:t> </a:t>
            </a:r>
            <a:r>
              <a:rPr dirty="0"/>
              <a:t>OF</a:t>
            </a:r>
            <a:r>
              <a:rPr spc="-145" dirty="0"/>
              <a:t> </a:t>
            </a:r>
            <a:r>
              <a:rPr spc="-10" dirty="0"/>
              <a:t>TECHNOLOGY</a:t>
            </a:r>
            <a:r>
              <a:rPr lang="en-IN" spc="-10" dirty="0"/>
              <a:t> </a:t>
            </a:r>
          </a:p>
          <a:p>
            <a:pPr marL="12700">
              <a:lnSpc>
                <a:spcPct val="100000"/>
              </a:lnSpc>
              <a:spcBef>
                <a:spcPts val="130"/>
              </a:spcBef>
            </a:pPr>
            <a:r>
              <a:rPr lang="en-IN" spc="-10" dirty="0"/>
              <a:t>                                 TIPTUR</a:t>
            </a:r>
          </a:p>
          <a:p>
            <a:pPr algn="ctr">
              <a:spcBef>
                <a:spcPts val="325"/>
              </a:spcBef>
            </a:pPr>
            <a:r>
              <a:rPr lang="en-IN" sz="1400" dirty="0">
                <a:solidFill>
                  <a:srgbClr val="FF0000"/>
                </a:solidFill>
              </a:rPr>
              <a:t>“ENHANCING ACCIDENT PREDICTION THROUGH INTEGRATED KNN AND DBSCAN          ALGORITHMS FOR SUPERIOR ACCURACY”</a:t>
            </a:r>
          </a:p>
          <a:p>
            <a:pPr marR="226695" algn="ctr">
              <a:lnSpc>
                <a:spcPct val="100000"/>
              </a:lnSpc>
            </a:pPr>
            <a:r>
              <a:rPr sz="2400" spc="-20" dirty="0"/>
              <a:t>INFORMATION</a:t>
            </a:r>
            <a:r>
              <a:rPr sz="2400" spc="-40" dirty="0"/>
              <a:t> </a:t>
            </a:r>
            <a:r>
              <a:rPr sz="2400" spc="-10" dirty="0"/>
              <a:t>SCIENCE</a:t>
            </a:r>
            <a:r>
              <a:rPr sz="2400" spc="-130" dirty="0"/>
              <a:t> </a:t>
            </a:r>
            <a:r>
              <a:rPr sz="2400" dirty="0"/>
              <a:t>AND</a:t>
            </a:r>
            <a:r>
              <a:rPr sz="2400" spc="-50" dirty="0"/>
              <a:t> </a:t>
            </a:r>
            <a:r>
              <a:rPr sz="2400" spc="-10" dirty="0"/>
              <a:t>ENGINEERING</a:t>
            </a:r>
            <a:endParaRPr sz="2400" dirty="0"/>
          </a:p>
          <a:p>
            <a:pPr marR="190500" algn="ctr">
              <a:lnSpc>
                <a:spcPct val="100000"/>
              </a:lnSpc>
              <a:tabLst>
                <a:tab pos="3400425" algn="l"/>
              </a:tabLst>
            </a:pPr>
            <a:r>
              <a:rPr lang="en-IN" dirty="0"/>
              <a:t>MAJOR </a:t>
            </a:r>
            <a:r>
              <a:rPr dirty="0"/>
              <a:t>PROJECT</a:t>
            </a:r>
            <a:r>
              <a:rPr spc="285" dirty="0"/>
              <a:t> </a:t>
            </a:r>
            <a:r>
              <a:rPr dirty="0"/>
              <a:t>PHASE-</a:t>
            </a:r>
            <a:r>
              <a:rPr lang="en-IN" spc="-50" dirty="0"/>
              <a:t>2</a:t>
            </a:r>
            <a:r>
              <a:rPr dirty="0"/>
              <a:t>	</a:t>
            </a:r>
            <a:r>
              <a:rPr spc="-10" dirty="0"/>
              <a:t>(BIS</a:t>
            </a:r>
            <a:r>
              <a:rPr lang="en-IN" spc="-10" dirty="0"/>
              <a:t>786</a:t>
            </a:r>
            <a:r>
              <a:rPr spc="-10" dirty="0"/>
              <a:t>)</a:t>
            </a:r>
          </a:p>
        </p:txBody>
      </p:sp>
      <p:pic>
        <p:nvPicPr>
          <p:cNvPr id="3" name="object 3"/>
          <p:cNvPicPr/>
          <p:nvPr/>
        </p:nvPicPr>
        <p:blipFill>
          <a:blip r:embed="rId2" cstate="print"/>
          <a:stretch>
            <a:fillRect/>
          </a:stretch>
        </p:blipFill>
        <p:spPr>
          <a:xfrm>
            <a:off x="10058400" y="295275"/>
            <a:ext cx="1905000" cy="1771650"/>
          </a:xfrm>
          <a:prstGeom prst="rect">
            <a:avLst/>
          </a:prstGeom>
        </p:spPr>
      </p:pic>
      <p:sp>
        <p:nvSpPr>
          <p:cNvPr id="4" name="object 4"/>
          <p:cNvSpPr txBox="1"/>
          <p:nvPr/>
        </p:nvSpPr>
        <p:spPr>
          <a:xfrm>
            <a:off x="751522" y="4439856"/>
            <a:ext cx="2326005" cy="1250315"/>
          </a:xfrm>
          <a:prstGeom prst="rect">
            <a:avLst/>
          </a:prstGeom>
        </p:spPr>
        <p:txBody>
          <a:bodyPr vert="horz" wrap="square" lIns="0" tIns="15875" rIns="0" bIns="0" rtlCol="0">
            <a:spAutoFit/>
          </a:bodyPr>
          <a:lstStyle/>
          <a:p>
            <a:pPr marL="12700" marR="5080">
              <a:lnSpc>
                <a:spcPct val="100000"/>
              </a:lnSpc>
              <a:spcBef>
                <a:spcPts val="125"/>
              </a:spcBef>
              <a:tabLst>
                <a:tab pos="1304290" algn="l"/>
              </a:tabLst>
            </a:pPr>
            <a:r>
              <a:rPr sz="2000" dirty="0">
                <a:latin typeface="Times New Roman"/>
                <a:cs typeface="Times New Roman"/>
              </a:rPr>
              <a:t>PRESENTING</a:t>
            </a:r>
            <a:r>
              <a:rPr sz="2000" spc="-75" dirty="0">
                <a:latin typeface="Times New Roman"/>
                <a:cs typeface="Times New Roman"/>
              </a:rPr>
              <a:t> </a:t>
            </a:r>
            <a:r>
              <a:rPr sz="2000" spc="-25" dirty="0">
                <a:latin typeface="Times New Roman"/>
                <a:cs typeface="Times New Roman"/>
              </a:rPr>
              <a:t>BY: </a:t>
            </a:r>
            <a:r>
              <a:rPr sz="2000" b="1" spc="-10" dirty="0">
                <a:latin typeface="Times New Roman"/>
                <a:cs typeface="Times New Roman"/>
              </a:rPr>
              <a:t>ANKITHA</a:t>
            </a:r>
            <a:r>
              <a:rPr sz="2000" b="1" spc="-85" dirty="0">
                <a:latin typeface="Times New Roman"/>
                <a:cs typeface="Times New Roman"/>
              </a:rPr>
              <a:t> </a:t>
            </a:r>
            <a:r>
              <a:rPr sz="2000" b="1" dirty="0">
                <a:latin typeface="Times New Roman"/>
                <a:cs typeface="Times New Roman"/>
              </a:rPr>
              <a:t>K</a:t>
            </a:r>
            <a:r>
              <a:rPr sz="2000" b="1" spc="-40" dirty="0">
                <a:latin typeface="Times New Roman"/>
                <a:cs typeface="Times New Roman"/>
              </a:rPr>
              <a:t> </a:t>
            </a:r>
            <a:r>
              <a:rPr sz="2000" b="1" spc="-50" dirty="0">
                <a:latin typeface="Times New Roman"/>
                <a:cs typeface="Times New Roman"/>
              </a:rPr>
              <a:t>V </a:t>
            </a:r>
            <a:r>
              <a:rPr sz="2000" b="1" dirty="0">
                <a:latin typeface="Times New Roman"/>
                <a:cs typeface="Times New Roman"/>
              </a:rPr>
              <a:t>PREETHI</a:t>
            </a:r>
            <a:r>
              <a:rPr sz="2000" b="1" spc="-45" dirty="0">
                <a:latin typeface="Times New Roman"/>
                <a:cs typeface="Times New Roman"/>
              </a:rPr>
              <a:t> </a:t>
            </a:r>
            <a:r>
              <a:rPr sz="2000" b="1" spc="-10" dirty="0">
                <a:latin typeface="Times New Roman"/>
                <a:cs typeface="Times New Roman"/>
              </a:rPr>
              <a:t>KUMARI LIKITHA</a:t>
            </a:r>
            <a:r>
              <a:rPr sz="2000" b="1" dirty="0">
                <a:latin typeface="Times New Roman"/>
                <a:cs typeface="Times New Roman"/>
              </a:rPr>
              <a:t>	M </a:t>
            </a:r>
            <a:r>
              <a:rPr sz="2000" b="1" spc="-50" dirty="0">
                <a:latin typeface="Times New Roman"/>
                <a:cs typeface="Times New Roman"/>
              </a:rPr>
              <a:t>N</a:t>
            </a:r>
            <a:endParaRPr sz="2000" dirty="0">
              <a:latin typeface="Times New Roman"/>
              <a:cs typeface="Times New Roman"/>
            </a:endParaRPr>
          </a:p>
        </p:txBody>
      </p:sp>
      <p:sp>
        <p:nvSpPr>
          <p:cNvPr id="5" name="object 5"/>
          <p:cNvSpPr txBox="1"/>
          <p:nvPr/>
        </p:nvSpPr>
        <p:spPr>
          <a:xfrm>
            <a:off x="3214751" y="4744720"/>
            <a:ext cx="1350645" cy="945515"/>
          </a:xfrm>
          <a:prstGeom prst="rect">
            <a:avLst/>
          </a:prstGeom>
        </p:spPr>
        <p:txBody>
          <a:bodyPr vert="horz" wrap="square" lIns="0" tIns="16510" rIns="0" bIns="0" rtlCol="0">
            <a:spAutoFit/>
          </a:bodyPr>
          <a:lstStyle/>
          <a:p>
            <a:pPr marL="12700">
              <a:lnSpc>
                <a:spcPct val="100000"/>
              </a:lnSpc>
              <a:spcBef>
                <a:spcPts val="130"/>
              </a:spcBef>
            </a:pPr>
            <a:r>
              <a:rPr sz="2000" b="1" spc="-10" dirty="0">
                <a:latin typeface="Times New Roman"/>
                <a:cs typeface="Times New Roman"/>
              </a:rPr>
              <a:t>1KI22IS004</a:t>
            </a:r>
            <a:endParaRPr sz="2000">
              <a:latin typeface="Times New Roman"/>
              <a:cs typeface="Times New Roman"/>
            </a:endParaRPr>
          </a:p>
          <a:p>
            <a:pPr marL="36830">
              <a:lnSpc>
                <a:spcPct val="100000"/>
              </a:lnSpc>
              <a:spcBef>
                <a:spcPts val="5"/>
              </a:spcBef>
            </a:pPr>
            <a:r>
              <a:rPr sz="2000" b="1" spc="-10" dirty="0">
                <a:latin typeface="Times New Roman"/>
                <a:cs typeface="Times New Roman"/>
              </a:rPr>
              <a:t>1KI22IS037</a:t>
            </a:r>
            <a:endParaRPr sz="2000">
              <a:latin typeface="Times New Roman"/>
              <a:cs typeface="Times New Roman"/>
            </a:endParaRPr>
          </a:p>
          <a:p>
            <a:pPr marL="27940">
              <a:lnSpc>
                <a:spcPct val="100000"/>
              </a:lnSpc>
            </a:pPr>
            <a:r>
              <a:rPr sz="2000" b="1" spc="-10" dirty="0">
                <a:latin typeface="Times New Roman"/>
                <a:cs typeface="Times New Roman"/>
              </a:rPr>
              <a:t>1KI23IS401</a:t>
            </a:r>
            <a:endParaRPr sz="2000">
              <a:latin typeface="Times New Roman"/>
              <a:cs typeface="Times New Roman"/>
            </a:endParaRPr>
          </a:p>
        </p:txBody>
      </p:sp>
      <p:sp>
        <p:nvSpPr>
          <p:cNvPr id="6" name="object 6"/>
          <p:cNvSpPr txBox="1"/>
          <p:nvPr/>
        </p:nvSpPr>
        <p:spPr>
          <a:xfrm>
            <a:off x="8403590" y="4437062"/>
            <a:ext cx="3392804" cy="1555750"/>
          </a:xfrm>
          <a:prstGeom prst="rect">
            <a:avLst/>
          </a:prstGeom>
        </p:spPr>
        <p:txBody>
          <a:bodyPr vert="horz" wrap="square" lIns="0" tIns="15875" rIns="0" bIns="0" rtlCol="0">
            <a:spAutoFit/>
          </a:bodyPr>
          <a:lstStyle/>
          <a:p>
            <a:pPr marL="12700">
              <a:lnSpc>
                <a:spcPct val="100000"/>
              </a:lnSpc>
              <a:spcBef>
                <a:spcPts val="125"/>
              </a:spcBef>
            </a:pPr>
            <a:r>
              <a:rPr sz="2000" b="1" dirty="0">
                <a:latin typeface="Times New Roman"/>
                <a:cs typeface="Times New Roman"/>
              </a:rPr>
              <a:t>GUIDED</a:t>
            </a:r>
            <a:r>
              <a:rPr sz="2000" b="1" spc="-5" dirty="0">
                <a:latin typeface="Times New Roman"/>
                <a:cs typeface="Times New Roman"/>
              </a:rPr>
              <a:t> </a:t>
            </a:r>
            <a:r>
              <a:rPr sz="2000" b="1" spc="-25" dirty="0">
                <a:latin typeface="Times New Roman"/>
                <a:cs typeface="Times New Roman"/>
              </a:rPr>
              <a:t>BY:</a:t>
            </a:r>
            <a:endParaRPr sz="2000">
              <a:latin typeface="Times New Roman"/>
              <a:cs typeface="Times New Roman"/>
            </a:endParaRPr>
          </a:p>
          <a:p>
            <a:pPr marL="12700">
              <a:lnSpc>
                <a:spcPct val="100000"/>
              </a:lnSpc>
              <a:spcBef>
                <a:spcPts val="5"/>
              </a:spcBef>
            </a:pPr>
            <a:r>
              <a:rPr sz="2000" b="1" spc="-20" dirty="0">
                <a:latin typeface="Times New Roman"/>
                <a:cs typeface="Times New Roman"/>
              </a:rPr>
              <a:t>PROF.</a:t>
            </a:r>
            <a:r>
              <a:rPr sz="2000" b="1" spc="-70" dirty="0">
                <a:latin typeface="Times New Roman"/>
                <a:cs typeface="Times New Roman"/>
              </a:rPr>
              <a:t> </a:t>
            </a:r>
            <a:r>
              <a:rPr sz="2000" b="1" dirty="0">
                <a:latin typeface="Times New Roman"/>
                <a:cs typeface="Times New Roman"/>
              </a:rPr>
              <a:t>CHETHAN</a:t>
            </a:r>
            <a:r>
              <a:rPr sz="2000" b="1" spc="-85" dirty="0">
                <a:latin typeface="Times New Roman"/>
                <a:cs typeface="Times New Roman"/>
              </a:rPr>
              <a:t> </a:t>
            </a:r>
            <a:r>
              <a:rPr sz="2000" b="1" dirty="0">
                <a:latin typeface="Times New Roman"/>
                <a:cs typeface="Times New Roman"/>
              </a:rPr>
              <a:t>KUMAR</a:t>
            </a:r>
            <a:r>
              <a:rPr sz="2000" b="1" spc="-125" dirty="0">
                <a:latin typeface="Times New Roman"/>
                <a:cs typeface="Times New Roman"/>
              </a:rPr>
              <a:t> </a:t>
            </a:r>
            <a:r>
              <a:rPr sz="2000" b="1" spc="-50" dirty="0">
                <a:latin typeface="Times New Roman"/>
                <a:cs typeface="Times New Roman"/>
              </a:rPr>
              <a:t>T</a:t>
            </a:r>
            <a:endParaRPr sz="2000">
              <a:latin typeface="Times New Roman"/>
              <a:cs typeface="Times New Roman"/>
            </a:endParaRPr>
          </a:p>
          <a:p>
            <a:pPr marL="12700" marR="1360170">
              <a:lnSpc>
                <a:spcPct val="100000"/>
              </a:lnSpc>
            </a:pPr>
            <a:r>
              <a:rPr sz="2000" dirty="0">
                <a:latin typeface="Times New Roman"/>
                <a:cs typeface="Times New Roman"/>
              </a:rPr>
              <a:t>Assistant</a:t>
            </a:r>
            <a:r>
              <a:rPr sz="2000" spc="-65" dirty="0">
                <a:latin typeface="Times New Roman"/>
                <a:cs typeface="Times New Roman"/>
              </a:rPr>
              <a:t> </a:t>
            </a:r>
            <a:r>
              <a:rPr sz="2000" spc="-10" dirty="0">
                <a:latin typeface="Times New Roman"/>
                <a:cs typeface="Times New Roman"/>
              </a:rPr>
              <a:t>Professor, </a:t>
            </a:r>
            <a:r>
              <a:rPr sz="2000" dirty="0">
                <a:latin typeface="Times New Roman"/>
                <a:cs typeface="Times New Roman"/>
              </a:rPr>
              <a:t>Dept. Of</a:t>
            </a:r>
            <a:r>
              <a:rPr sz="2000" spc="-20" dirty="0">
                <a:latin typeface="Times New Roman"/>
                <a:cs typeface="Times New Roman"/>
              </a:rPr>
              <a:t> ISE, </a:t>
            </a:r>
            <a:r>
              <a:rPr sz="2000" spc="-10" dirty="0">
                <a:latin typeface="Times New Roman"/>
                <a:cs typeface="Times New Roman"/>
              </a:rPr>
              <a:t>KIT,Tiptur</a:t>
            </a:r>
            <a:endParaRPr sz="2000">
              <a:latin typeface="Times New Roman"/>
              <a:cs typeface="Times New Roman"/>
            </a:endParaRPr>
          </a:p>
        </p:txBody>
      </p:sp>
      <p:pic>
        <p:nvPicPr>
          <p:cNvPr id="7" name="object 7"/>
          <p:cNvPicPr/>
          <p:nvPr/>
        </p:nvPicPr>
        <p:blipFill>
          <a:blip r:embed="rId3" cstate="print"/>
          <a:stretch>
            <a:fillRect/>
          </a:stretch>
        </p:blipFill>
        <p:spPr>
          <a:xfrm>
            <a:off x="126335" y="262191"/>
            <a:ext cx="1895475" cy="1638300"/>
          </a:xfrm>
          <a:prstGeom prst="rect">
            <a:avLst/>
          </a:prstGeom>
        </p:spPr>
      </p:pic>
      <p:sp>
        <p:nvSpPr>
          <p:cNvPr id="8" name="object 8"/>
          <p:cNvSpPr txBox="1"/>
          <p:nvPr/>
        </p:nvSpPr>
        <p:spPr>
          <a:xfrm>
            <a:off x="2209800" y="607631"/>
            <a:ext cx="7153909" cy="391795"/>
          </a:xfrm>
          <a:prstGeom prst="rect">
            <a:avLst/>
          </a:prstGeom>
        </p:spPr>
        <p:txBody>
          <a:bodyPr vert="horz" wrap="square" lIns="0" tIns="12700" rIns="0" bIns="0" rtlCol="0">
            <a:spAutoFit/>
          </a:bodyPr>
          <a:lstStyle/>
          <a:p>
            <a:pPr marL="12700">
              <a:lnSpc>
                <a:spcPct val="100000"/>
              </a:lnSpc>
              <a:spcBef>
                <a:spcPts val="100"/>
              </a:spcBef>
            </a:pPr>
            <a:r>
              <a:rPr sz="2400" b="1" spc="-85" dirty="0">
                <a:latin typeface="Times New Roman"/>
                <a:cs typeface="Times New Roman"/>
              </a:rPr>
              <a:t>VISVESVARAYA</a:t>
            </a:r>
            <a:r>
              <a:rPr sz="2400" b="1" spc="-130" dirty="0">
                <a:latin typeface="Times New Roman"/>
                <a:cs typeface="Times New Roman"/>
              </a:rPr>
              <a:t> </a:t>
            </a:r>
            <a:r>
              <a:rPr sz="2400" b="1" spc="-10" dirty="0">
                <a:latin typeface="Times New Roman"/>
                <a:cs typeface="Times New Roman"/>
              </a:rPr>
              <a:t>TECHNOLOGICAL</a:t>
            </a:r>
            <a:r>
              <a:rPr sz="2400" b="1" spc="-35" dirty="0">
                <a:latin typeface="Times New Roman"/>
                <a:cs typeface="Times New Roman"/>
              </a:rPr>
              <a:t> </a:t>
            </a:r>
            <a:r>
              <a:rPr sz="2400" b="1" spc="-10" dirty="0">
                <a:latin typeface="Times New Roman"/>
                <a:cs typeface="Times New Roman"/>
              </a:rPr>
              <a:t>UNIVERSITY</a:t>
            </a:r>
            <a:endParaRPr sz="2400">
              <a:latin typeface="Times New Roman"/>
              <a:cs typeface="Times New Roman"/>
            </a:endParaRPr>
          </a:p>
        </p:txBody>
      </p:sp>
      <p:sp>
        <p:nvSpPr>
          <p:cNvPr id="9" name="object 9"/>
          <p:cNvSpPr txBox="1">
            <a:spLocks noGrp="1"/>
          </p:cNvSpPr>
          <p:nvPr>
            <p:ph type="title"/>
          </p:nvPr>
        </p:nvSpPr>
        <p:spPr>
          <a:xfrm>
            <a:off x="3353815" y="969644"/>
            <a:ext cx="4663440" cy="392430"/>
          </a:xfrm>
          <a:prstGeom prst="rect">
            <a:avLst/>
          </a:prstGeom>
        </p:spPr>
        <p:txBody>
          <a:bodyPr vert="horz" wrap="square" lIns="0" tIns="13335" rIns="0" bIns="0" rtlCol="0">
            <a:spAutoFit/>
          </a:bodyPr>
          <a:lstStyle/>
          <a:p>
            <a:pPr marL="12700">
              <a:lnSpc>
                <a:spcPct val="100000"/>
              </a:lnSpc>
              <a:spcBef>
                <a:spcPts val="105"/>
              </a:spcBef>
            </a:pPr>
            <a:r>
              <a:rPr sz="2400" i="0" spc="-50" dirty="0">
                <a:latin typeface="Times New Roman"/>
                <a:cs typeface="Times New Roman"/>
              </a:rPr>
              <a:t>BELAGAVI,KARNATAKA-</a:t>
            </a:r>
            <a:r>
              <a:rPr sz="2400" i="0" spc="-10" dirty="0">
                <a:latin typeface="Times New Roman"/>
                <a:cs typeface="Times New Roman"/>
              </a:rPr>
              <a:t>590018</a:t>
            </a:r>
            <a:endParaRPr sz="240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13" name="Diagram 12">
            <a:extLst>
              <a:ext uri="{FF2B5EF4-FFF2-40B4-BE49-F238E27FC236}">
                <a16:creationId xmlns:a16="http://schemas.microsoft.com/office/drawing/2014/main" id="{4686B4B9-11F9-3D74-6B5A-2DB9DB1B3878}"/>
              </a:ext>
            </a:extLst>
          </p:cNvPr>
          <p:cNvGraphicFramePr/>
          <p:nvPr>
            <p:extLst>
              <p:ext uri="{D42A27DB-BD31-4B8C-83A1-F6EECF244321}">
                <p14:modId xmlns:p14="http://schemas.microsoft.com/office/powerpoint/2010/main" val="1941216928"/>
              </p:ext>
            </p:extLst>
          </p:nvPr>
        </p:nvGraphicFramePr>
        <p:xfrm>
          <a:off x="3771900" y="152400"/>
          <a:ext cx="4648200" cy="114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2" name="Diagram 11">
            <a:extLst>
              <a:ext uri="{FF2B5EF4-FFF2-40B4-BE49-F238E27FC236}">
                <a16:creationId xmlns:a16="http://schemas.microsoft.com/office/drawing/2014/main" id="{7FD61296-B93A-77A7-B7ED-53CCEC4E4322}"/>
              </a:ext>
            </a:extLst>
          </p:cNvPr>
          <p:cNvGraphicFramePr/>
          <p:nvPr>
            <p:extLst>
              <p:ext uri="{D42A27DB-BD31-4B8C-83A1-F6EECF244321}">
                <p14:modId xmlns:p14="http://schemas.microsoft.com/office/powerpoint/2010/main" val="102928309"/>
              </p:ext>
            </p:extLst>
          </p:nvPr>
        </p:nvGraphicFramePr>
        <p:xfrm>
          <a:off x="23190" y="2133600"/>
          <a:ext cx="12016409" cy="17526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43000" y="1371600"/>
            <a:ext cx="4724400" cy="4665701"/>
          </a:xfrm>
          <a:prstGeom prst="rect">
            <a:avLst/>
          </a:prstGeom>
        </p:spPr>
        <p:txBody>
          <a:bodyPr vert="horz" wrap="square" lIns="0" tIns="108585" rIns="0" bIns="0" rtlCol="0">
            <a:spAutoFit/>
          </a:bodyPr>
          <a:lstStyle/>
          <a:p>
            <a:pPr marL="355600" marR="1547495" indent="-342900">
              <a:lnSpc>
                <a:spcPct val="122900"/>
              </a:lnSpc>
              <a:buFont typeface="Arial" panose="020B0604020202020204" pitchFamily="34" charset="0"/>
              <a:buChar char="•"/>
            </a:pPr>
            <a:r>
              <a:rPr lang="en-IN" sz="2400" b="1" spc="-10" dirty="0">
                <a:latin typeface="+mn-lt"/>
                <a:cs typeface="Times New Roman"/>
              </a:rPr>
              <a:t>ABSTRACT</a:t>
            </a:r>
            <a:endParaRPr lang="en-US" sz="2400" b="1" spc="-10" dirty="0">
              <a:latin typeface="+mn-lt"/>
              <a:cs typeface="Times New Roman"/>
            </a:endParaRPr>
          </a:p>
          <a:p>
            <a:pPr marL="355600" marR="1547495" indent="-342900">
              <a:lnSpc>
                <a:spcPct val="122900"/>
              </a:lnSpc>
              <a:buFont typeface="Arial" panose="020B0604020202020204" pitchFamily="34" charset="0"/>
              <a:buChar char="•"/>
            </a:pPr>
            <a:r>
              <a:rPr lang="en-US" sz="2400" b="1" dirty="0">
                <a:latin typeface="+mn-lt"/>
                <a:cs typeface="Times New Roman"/>
              </a:rPr>
              <a:t>INTRODUCTION</a:t>
            </a:r>
            <a:endParaRPr sz="2400" b="1" dirty="0">
              <a:latin typeface="+mn-lt"/>
              <a:cs typeface="Times New Roman"/>
            </a:endParaRPr>
          </a:p>
          <a:p>
            <a:pPr marL="355600" indent="-342900">
              <a:lnSpc>
                <a:spcPct val="100000"/>
              </a:lnSpc>
              <a:spcBef>
                <a:spcPts val="680"/>
              </a:spcBef>
              <a:buFont typeface="Arial" panose="020B0604020202020204" pitchFamily="34" charset="0"/>
              <a:buChar char="•"/>
            </a:pPr>
            <a:r>
              <a:rPr lang="en-US" sz="2400" b="1" dirty="0">
                <a:latin typeface="+mn-lt"/>
                <a:cs typeface="Times New Roman"/>
              </a:rPr>
              <a:t>OBJECTIVES</a:t>
            </a:r>
            <a:endParaRPr lang="en-US" sz="2400" dirty="0">
              <a:latin typeface="+mn-lt"/>
              <a:cs typeface="Times New Roman"/>
            </a:endParaRPr>
          </a:p>
          <a:p>
            <a:pPr marL="355600" marR="889000" indent="-342900">
              <a:lnSpc>
                <a:spcPct val="122900"/>
              </a:lnSpc>
              <a:buFont typeface="Arial" panose="020B0604020202020204" pitchFamily="34" charset="0"/>
              <a:buChar char="•"/>
            </a:pPr>
            <a:r>
              <a:rPr lang="en-US" sz="2400" b="1" dirty="0">
                <a:latin typeface="+mn-lt"/>
                <a:cs typeface="Times New Roman"/>
              </a:rPr>
              <a:t>PROBLEM STATEMENT</a:t>
            </a:r>
          </a:p>
          <a:p>
            <a:pPr marL="355600" marR="889000" indent="-342900">
              <a:lnSpc>
                <a:spcPct val="122900"/>
              </a:lnSpc>
              <a:buFont typeface="Arial" panose="020B0604020202020204" pitchFamily="34" charset="0"/>
              <a:buChar char="•"/>
            </a:pPr>
            <a:r>
              <a:rPr lang="en-US" sz="2400" b="1" dirty="0">
                <a:latin typeface="+mn-lt"/>
                <a:cs typeface="Times New Roman"/>
              </a:rPr>
              <a:t> LITERATURE</a:t>
            </a:r>
            <a:r>
              <a:rPr lang="en-US" sz="2400" b="1" spc="175" dirty="0">
                <a:latin typeface="+mn-lt"/>
                <a:cs typeface="Times New Roman"/>
              </a:rPr>
              <a:t> </a:t>
            </a:r>
            <a:r>
              <a:rPr lang="en-US" sz="2400" b="1" spc="-10" dirty="0">
                <a:latin typeface="+mn-lt"/>
                <a:cs typeface="Times New Roman"/>
              </a:rPr>
              <a:t>REVIEW</a:t>
            </a:r>
            <a:endParaRPr lang="en-US" sz="2400" dirty="0">
              <a:latin typeface="+mn-lt"/>
              <a:cs typeface="Times New Roman"/>
            </a:endParaRPr>
          </a:p>
          <a:p>
            <a:pPr marL="355600" indent="-342900">
              <a:lnSpc>
                <a:spcPct val="100000"/>
              </a:lnSpc>
              <a:spcBef>
                <a:spcPts val="685"/>
              </a:spcBef>
              <a:buSzPct val="96363"/>
              <a:buFont typeface="Arial" panose="020B0604020202020204" pitchFamily="34" charset="0"/>
              <a:buChar char="•"/>
              <a:tabLst>
                <a:tab pos="278765" algn="l"/>
              </a:tabLst>
            </a:pPr>
            <a:r>
              <a:rPr lang="en-US" sz="2400" b="1" dirty="0">
                <a:latin typeface="+mn-lt"/>
                <a:cs typeface="Times New Roman"/>
              </a:rPr>
              <a:t>PROPOSED</a:t>
            </a:r>
            <a:r>
              <a:rPr lang="en-US" sz="2400" b="1" spc="114" dirty="0">
                <a:latin typeface="+mn-lt"/>
                <a:cs typeface="Times New Roman"/>
              </a:rPr>
              <a:t> </a:t>
            </a:r>
            <a:r>
              <a:rPr lang="en-US" sz="2400" b="1" spc="-10" dirty="0">
                <a:latin typeface="+mn-lt"/>
                <a:cs typeface="Times New Roman"/>
              </a:rPr>
              <a:t>METHODOLOGY</a:t>
            </a:r>
            <a:endParaRPr lang="en-US" sz="2400" dirty="0">
              <a:latin typeface="+mn-lt"/>
              <a:cs typeface="Times New Roman"/>
            </a:endParaRPr>
          </a:p>
          <a:p>
            <a:pPr marL="355600" indent="-342900">
              <a:lnSpc>
                <a:spcPct val="100000"/>
              </a:lnSpc>
              <a:spcBef>
                <a:spcPts val="750"/>
              </a:spcBef>
              <a:buSzPct val="96363"/>
              <a:buFont typeface="Arial" panose="020B0604020202020204" pitchFamily="34" charset="0"/>
              <a:buChar char="•"/>
              <a:tabLst>
                <a:tab pos="278765" algn="l"/>
              </a:tabLst>
            </a:pPr>
            <a:r>
              <a:rPr lang="en-US" sz="2400" b="1" spc="-10" dirty="0">
                <a:latin typeface="+mn-lt"/>
                <a:cs typeface="Times New Roman"/>
              </a:rPr>
              <a:t>OUTCOME</a:t>
            </a:r>
            <a:endParaRPr lang="en-US" sz="2400" dirty="0">
              <a:latin typeface="+mn-lt"/>
              <a:cs typeface="Times New Roman"/>
            </a:endParaRPr>
          </a:p>
          <a:p>
            <a:pPr marL="355600" marR="1510030" indent="-342900">
              <a:lnSpc>
                <a:spcPct val="120600"/>
              </a:lnSpc>
              <a:spcBef>
                <a:spcPts val="75"/>
              </a:spcBef>
              <a:buSzPct val="96363"/>
              <a:buFont typeface="Arial" panose="020B0604020202020204" pitchFamily="34" charset="0"/>
              <a:buChar char="•"/>
              <a:tabLst>
                <a:tab pos="278765" algn="l"/>
              </a:tabLst>
            </a:pPr>
            <a:r>
              <a:rPr lang="en-US" sz="2400" b="1" dirty="0">
                <a:latin typeface="+mn-lt"/>
                <a:cs typeface="Times New Roman"/>
              </a:rPr>
              <a:t>FUTURE</a:t>
            </a:r>
            <a:r>
              <a:rPr lang="en-US" sz="2400" b="1" spc="-10" dirty="0">
                <a:latin typeface="+mn-lt"/>
                <a:cs typeface="Times New Roman"/>
              </a:rPr>
              <a:t> </a:t>
            </a:r>
            <a:r>
              <a:rPr lang="en-US" sz="2400" b="1" spc="-20" dirty="0">
                <a:latin typeface="+mn-lt"/>
                <a:cs typeface="Times New Roman"/>
              </a:rPr>
              <a:t>WORK </a:t>
            </a:r>
            <a:endParaRPr lang="en-US" sz="2400" b="1" spc="-10" dirty="0">
              <a:latin typeface="+mn-lt"/>
              <a:cs typeface="Times New Roman"/>
            </a:endParaRPr>
          </a:p>
          <a:p>
            <a:pPr marL="355600" marR="1510030" indent="-342900">
              <a:lnSpc>
                <a:spcPct val="120600"/>
              </a:lnSpc>
              <a:spcBef>
                <a:spcPts val="75"/>
              </a:spcBef>
              <a:buSzPct val="96363"/>
              <a:buFont typeface="Arial" panose="020B0604020202020204" pitchFamily="34" charset="0"/>
              <a:buChar char="•"/>
              <a:tabLst>
                <a:tab pos="278765" algn="l"/>
              </a:tabLst>
            </a:pPr>
            <a:r>
              <a:rPr lang="en-US" sz="2400" b="1" spc="-10" dirty="0">
                <a:latin typeface="+mn-lt"/>
                <a:cs typeface="Times New Roman"/>
              </a:rPr>
              <a:t>REFERENCES</a:t>
            </a:r>
          </a:p>
          <a:p>
            <a:pPr marL="355600" marR="1510030" indent="-342900">
              <a:lnSpc>
                <a:spcPct val="120600"/>
              </a:lnSpc>
              <a:spcBef>
                <a:spcPts val="75"/>
              </a:spcBef>
              <a:buSzPct val="96363"/>
              <a:buFont typeface="Arial" panose="020B0604020202020204" pitchFamily="34" charset="0"/>
              <a:buChar char="•"/>
              <a:tabLst>
                <a:tab pos="278765" algn="l"/>
              </a:tabLst>
            </a:pPr>
            <a:r>
              <a:rPr lang="en-US" sz="2400" b="1" spc="-10" dirty="0">
                <a:latin typeface="+mn-lt"/>
                <a:cs typeface="Times New Roman"/>
              </a:rPr>
              <a:t>CONCLUSION</a:t>
            </a:r>
            <a:endParaRPr sz="2400" dirty="0">
              <a:latin typeface="+mn-lt"/>
              <a:cs typeface="Times New Roman"/>
            </a:endParaRPr>
          </a:p>
        </p:txBody>
      </p:sp>
      <p:sp>
        <p:nvSpPr>
          <p:cNvPr id="4" name="Rectangle: Top Corners Rounded 3">
            <a:extLst>
              <a:ext uri="{FF2B5EF4-FFF2-40B4-BE49-F238E27FC236}">
                <a16:creationId xmlns:a16="http://schemas.microsoft.com/office/drawing/2014/main" id="{33FA2A68-11EB-9CDA-A647-680222CA041E}"/>
              </a:ext>
            </a:extLst>
          </p:cNvPr>
          <p:cNvSpPr/>
          <p:nvPr/>
        </p:nvSpPr>
        <p:spPr>
          <a:xfrm>
            <a:off x="0" y="381000"/>
            <a:ext cx="12192000" cy="76200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700" algn="ctr">
              <a:lnSpc>
                <a:spcPct val="100000"/>
              </a:lnSpc>
              <a:spcBef>
                <a:spcPts val="855"/>
              </a:spcBef>
            </a:pPr>
            <a:r>
              <a:rPr lang="en-IN" sz="3600" b="1" dirty="0">
                <a:latin typeface="+mj-lt"/>
                <a:cs typeface="Times New Roman"/>
              </a:rPr>
              <a:t>TABLE</a:t>
            </a:r>
            <a:r>
              <a:rPr lang="en-IN" sz="3600" b="1" spc="-35" dirty="0">
                <a:latin typeface="+mj-lt"/>
                <a:cs typeface="Times New Roman"/>
              </a:rPr>
              <a:t> </a:t>
            </a:r>
            <a:r>
              <a:rPr lang="en-IN" sz="3600" b="1" dirty="0">
                <a:latin typeface="+mj-lt"/>
                <a:cs typeface="Times New Roman"/>
              </a:rPr>
              <a:t>OF</a:t>
            </a:r>
            <a:r>
              <a:rPr lang="en-IN" sz="3600" b="1" spc="-30" dirty="0">
                <a:latin typeface="+mj-lt"/>
                <a:cs typeface="Times New Roman"/>
              </a:rPr>
              <a:t> </a:t>
            </a:r>
            <a:r>
              <a:rPr lang="en-IN" sz="3600" b="1" spc="-10" dirty="0">
                <a:latin typeface="+mj-lt"/>
                <a:cs typeface="Times New Roman"/>
              </a:rPr>
              <a:t>CONTENTS</a:t>
            </a:r>
            <a:endParaRPr lang="en-IN" sz="3600" dirty="0">
              <a:latin typeface="+mj-lt"/>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95567" y="1524000"/>
            <a:ext cx="12000865" cy="3533660"/>
          </a:xfrm>
          <a:prstGeom prst="rect">
            <a:avLst/>
          </a:prstGeom>
        </p:spPr>
        <p:txBody>
          <a:bodyPr vert="horz" wrap="square" lIns="0" tIns="97790" rIns="0" bIns="0" rtlCol="0">
            <a:spAutoFit/>
          </a:bodyPr>
          <a:lstStyle/>
          <a:p>
            <a:endParaRPr lang="en-US" sz="2800" spc="-10" dirty="0">
              <a:latin typeface="Times New Roman"/>
              <a:cs typeface="Times New Roman"/>
            </a:endParaRPr>
          </a:p>
          <a:p>
            <a:pPr marL="457200" indent="-457200" algn="just">
              <a:buFont typeface="Wingdings" panose="05000000000000000000" pitchFamily="2" charset="2"/>
              <a:buChar char="Ø"/>
            </a:pPr>
            <a:r>
              <a:rPr lang="en-US" sz="2800" dirty="0">
                <a:latin typeface="+mn-lt"/>
              </a:rPr>
              <a:t>Road traffic accidents are a growing global concern, endangering lives and infrastructure. Accurate prediction of accident severity is essential for effective emergency response and safety planning. This study introduces a hybrid model integrating KNN and DBSCAN algorithms improve prediction accuracy. The combined approach  enhances reliability, reduces noise sensitivity, and supports safer urban mobility.</a:t>
            </a:r>
          </a:p>
          <a:p>
            <a:pPr marL="241300" marR="363855" indent="-228600">
              <a:lnSpc>
                <a:spcPct val="79400"/>
              </a:lnSpc>
              <a:spcBef>
                <a:spcPts val="770"/>
              </a:spcBef>
              <a:buFont typeface="Arial MT"/>
              <a:buChar char="•"/>
              <a:tabLst>
                <a:tab pos="241300" algn="l"/>
              </a:tabLst>
            </a:pPr>
            <a:endParaRPr sz="2600" dirty="0">
              <a:latin typeface="Times New Roman"/>
              <a:cs typeface="Times New Roman"/>
            </a:endParaRPr>
          </a:p>
        </p:txBody>
      </p:sp>
      <p:sp>
        <p:nvSpPr>
          <p:cNvPr id="4" name="Rectangle: Top Corners Rounded 3">
            <a:extLst>
              <a:ext uri="{FF2B5EF4-FFF2-40B4-BE49-F238E27FC236}">
                <a16:creationId xmlns:a16="http://schemas.microsoft.com/office/drawing/2014/main" id="{567AAF40-88B4-F4B1-5B2F-E5A5662AD7AD}"/>
              </a:ext>
            </a:extLst>
          </p:cNvPr>
          <p:cNvSpPr/>
          <p:nvPr/>
        </p:nvSpPr>
        <p:spPr>
          <a:xfrm>
            <a:off x="0" y="457200"/>
            <a:ext cx="12192000" cy="91440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000" b="1" dirty="0">
                <a:latin typeface="+mj-lt"/>
              </a:rPr>
              <a:t>ABSTRACT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3" name="object 49">
            <a:extLst>
              <a:ext uri="{FF2B5EF4-FFF2-40B4-BE49-F238E27FC236}">
                <a16:creationId xmlns:a16="http://schemas.microsoft.com/office/drawing/2014/main" id="{2CDBFEB6-1002-8A47-282E-1C0F8696D77C}"/>
              </a:ext>
            </a:extLst>
          </p:cNvPr>
          <p:cNvGrpSpPr/>
          <p:nvPr/>
        </p:nvGrpSpPr>
        <p:grpSpPr>
          <a:xfrm>
            <a:off x="7905750" y="4190999"/>
            <a:ext cx="4057650" cy="2272837"/>
            <a:chOff x="7905750" y="1704975"/>
            <a:chExt cx="3810000" cy="4229100"/>
          </a:xfrm>
        </p:grpSpPr>
        <p:pic>
          <p:nvPicPr>
            <p:cNvPr id="14" name="object 50">
              <a:extLst>
                <a:ext uri="{FF2B5EF4-FFF2-40B4-BE49-F238E27FC236}">
                  <a16:creationId xmlns:a16="http://schemas.microsoft.com/office/drawing/2014/main" id="{EC18463A-E97D-9701-BDE2-0620021628A6}"/>
                </a:ext>
              </a:extLst>
            </p:cNvPr>
            <p:cNvPicPr/>
            <p:nvPr/>
          </p:nvPicPr>
          <p:blipFill>
            <a:blip r:embed="rId2" cstate="print"/>
            <a:stretch>
              <a:fillRect/>
            </a:stretch>
          </p:blipFill>
          <p:spPr>
            <a:xfrm>
              <a:off x="7905750" y="1704975"/>
              <a:ext cx="3810000" cy="4229100"/>
            </a:xfrm>
            <a:prstGeom prst="rect">
              <a:avLst/>
            </a:prstGeom>
          </p:spPr>
        </p:pic>
        <p:pic>
          <p:nvPicPr>
            <p:cNvPr id="15" name="object 51">
              <a:extLst>
                <a:ext uri="{FF2B5EF4-FFF2-40B4-BE49-F238E27FC236}">
                  <a16:creationId xmlns:a16="http://schemas.microsoft.com/office/drawing/2014/main" id="{62106C4C-92AB-4FF8-9A0F-9EEDC89F418D}"/>
                </a:ext>
              </a:extLst>
            </p:cNvPr>
            <p:cNvPicPr/>
            <p:nvPr/>
          </p:nvPicPr>
          <p:blipFill>
            <a:blip r:embed="rId3" cstate="print"/>
            <a:stretch>
              <a:fillRect/>
            </a:stretch>
          </p:blipFill>
          <p:spPr>
            <a:xfrm>
              <a:off x="10972800" y="1781175"/>
              <a:ext cx="133350" cy="133350"/>
            </a:xfrm>
            <a:prstGeom prst="rect">
              <a:avLst/>
            </a:prstGeom>
          </p:spPr>
        </p:pic>
        <p:pic>
          <p:nvPicPr>
            <p:cNvPr id="16" name="object 52">
              <a:extLst>
                <a:ext uri="{FF2B5EF4-FFF2-40B4-BE49-F238E27FC236}">
                  <a16:creationId xmlns:a16="http://schemas.microsoft.com/office/drawing/2014/main" id="{7A98C00D-A1DD-6D32-6F41-C10EE68F7A8D}"/>
                </a:ext>
              </a:extLst>
            </p:cNvPr>
            <p:cNvPicPr/>
            <p:nvPr/>
          </p:nvPicPr>
          <p:blipFill>
            <a:blip r:embed="rId4" cstate="print"/>
            <a:stretch>
              <a:fillRect/>
            </a:stretch>
          </p:blipFill>
          <p:spPr>
            <a:xfrm>
              <a:off x="11277600" y="2066925"/>
              <a:ext cx="95250" cy="95250"/>
            </a:xfrm>
            <a:prstGeom prst="rect">
              <a:avLst/>
            </a:prstGeom>
          </p:spPr>
        </p:pic>
      </p:grpSp>
      <p:sp>
        <p:nvSpPr>
          <p:cNvPr id="8" name="object 8"/>
          <p:cNvSpPr txBox="1"/>
          <p:nvPr/>
        </p:nvSpPr>
        <p:spPr>
          <a:xfrm>
            <a:off x="132715" y="2133600"/>
            <a:ext cx="11926570" cy="1939634"/>
          </a:xfrm>
          <a:prstGeom prst="rect">
            <a:avLst/>
          </a:prstGeom>
        </p:spPr>
        <p:txBody>
          <a:bodyPr vert="horz" wrap="square" lIns="0" tIns="15875" rIns="0" bIns="0" rtlCol="0">
            <a:spAutoFit/>
          </a:bodyPr>
          <a:lstStyle/>
          <a:p>
            <a:pPr marL="355600" indent="-342900">
              <a:lnSpc>
                <a:spcPts val="2490"/>
              </a:lnSpc>
              <a:spcBef>
                <a:spcPts val="125"/>
              </a:spcBef>
              <a:buFont typeface="Wingdings" panose="05000000000000000000" pitchFamily="2" charset="2"/>
              <a:buChar char="Ø"/>
              <a:tabLst>
                <a:tab pos="241300" algn="l"/>
              </a:tabLst>
            </a:pPr>
            <a:r>
              <a:rPr lang="en-US" sz="2400" dirty="0">
                <a:latin typeface="+mn-lt"/>
              </a:rPr>
              <a:t>Road traffic accidents are a major global concern, causing significant loss of life and economic damage each year. Accurate prediction of accident severity can help improve emergency response and safety planning. Traditional models often fail to handle noisy and complex traffic data effectively. Machine learning provides a promising solution, but no single algorithm performs well across all data types. Therefore, this study integrates KNN and DBSCAN algorithms to enhance prediction accuracy and model reliability</a:t>
            </a:r>
            <a:r>
              <a:rPr lang="en-US" sz="2400" dirty="0"/>
              <a:t>.</a:t>
            </a:r>
            <a:endParaRPr sz="2150" dirty="0">
              <a:latin typeface="Times New Roman"/>
              <a:cs typeface="Times New Roman"/>
            </a:endParaRPr>
          </a:p>
        </p:txBody>
      </p:sp>
      <p:sp>
        <p:nvSpPr>
          <p:cNvPr id="9" name="object 9"/>
          <p:cNvSpPr/>
          <p:nvPr/>
        </p:nvSpPr>
        <p:spPr>
          <a:xfrm>
            <a:off x="838200" y="6486525"/>
            <a:ext cx="10515600" cy="0"/>
          </a:xfrm>
          <a:custGeom>
            <a:avLst/>
            <a:gdLst/>
            <a:ahLst/>
            <a:cxnLst/>
            <a:rect l="l" t="t" r="r" b="b"/>
            <a:pathLst>
              <a:path w="10515600">
                <a:moveTo>
                  <a:pt x="10515600" y="0"/>
                </a:moveTo>
                <a:lnTo>
                  <a:pt x="0" y="0"/>
                </a:lnTo>
              </a:path>
            </a:pathLst>
          </a:custGeom>
          <a:ln w="57150">
            <a:solidFill>
              <a:srgbClr val="0E9ED4"/>
            </a:solidFill>
          </a:ln>
        </p:spPr>
        <p:txBody>
          <a:bodyPr wrap="square" lIns="0" tIns="0" rIns="0" bIns="0" rtlCol="0"/>
          <a:lstStyle/>
          <a:p>
            <a:endParaRPr/>
          </a:p>
        </p:txBody>
      </p:sp>
      <p:sp>
        <p:nvSpPr>
          <p:cNvPr id="12" name="Rectangle: Top Corners Rounded 11">
            <a:extLst>
              <a:ext uri="{FF2B5EF4-FFF2-40B4-BE49-F238E27FC236}">
                <a16:creationId xmlns:a16="http://schemas.microsoft.com/office/drawing/2014/main" id="{575543A2-3B12-F445-60FC-3854AFD130D7}"/>
              </a:ext>
            </a:extLst>
          </p:cNvPr>
          <p:cNvSpPr/>
          <p:nvPr/>
        </p:nvSpPr>
        <p:spPr>
          <a:xfrm>
            <a:off x="7302" y="394161"/>
            <a:ext cx="12192000" cy="83820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mj-lt"/>
              </a:rPr>
              <a:t>INTRODUCTION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17730" y="589570"/>
            <a:ext cx="284277" cy="359629"/>
          </a:xfrm>
          <a:prstGeom prst="rect">
            <a:avLst/>
          </a:prstGeom>
        </p:spPr>
      </p:pic>
      <p:sp>
        <p:nvSpPr>
          <p:cNvPr id="3" name="object 3"/>
          <p:cNvSpPr txBox="1">
            <a:spLocks noGrp="1"/>
          </p:cNvSpPr>
          <p:nvPr>
            <p:ph type="title"/>
          </p:nvPr>
        </p:nvSpPr>
        <p:spPr>
          <a:xfrm>
            <a:off x="3275076" y="478091"/>
            <a:ext cx="5688965" cy="517525"/>
          </a:xfrm>
          <a:prstGeom prst="rect">
            <a:avLst/>
          </a:prstGeom>
        </p:spPr>
        <p:txBody>
          <a:bodyPr vert="horz" wrap="square" lIns="0" tIns="15875" rIns="0" bIns="0" rtlCol="0">
            <a:spAutoFit/>
          </a:bodyPr>
          <a:lstStyle/>
          <a:p>
            <a:pPr marL="12700">
              <a:lnSpc>
                <a:spcPct val="100000"/>
              </a:lnSpc>
              <a:spcBef>
                <a:spcPts val="125"/>
              </a:spcBef>
            </a:pPr>
            <a:r>
              <a:rPr sz="3200" i="0" u="sng" dirty="0">
                <a:uFill>
                  <a:solidFill>
                    <a:srgbClr val="155F82"/>
                  </a:solidFill>
                </a:uFill>
                <a:latin typeface="Times New Roman"/>
                <a:cs typeface="Times New Roman"/>
              </a:rPr>
              <a:t>OBJECTIVES</a:t>
            </a:r>
            <a:r>
              <a:rPr sz="3200" i="0" u="sng" spc="-140" dirty="0">
                <a:uFill>
                  <a:solidFill>
                    <a:srgbClr val="155F82"/>
                  </a:solidFill>
                </a:uFill>
                <a:latin typeface="Times New Roman"/>
                <a:cs typeface="Times New Roman"/>
              </a:rPr>
              <a:t> </a:t>
            </a:r>
            <a:r>
              <a:rPr sz="3200" i="0" u="sng" dirty="0">
                <a:uFill>
                  <a:solidFill>
                    <a:srgbClr val="155F82"/>
                  </a:solidFill>
                </a:uFill>
                <a:latin typeface="Times New Roman"/>
                <a:cs typeface="Times New Roman"/>
              </a:rPr>
              <a:t>OF</a:t>
            </a:r>
            <a:r>
              <a:rPr sz="3200" i="0" u="sng" spc="-200" dirty="0">
                <a:uFill>
                  <a:solidFill>
                    <a:srgbClr val="155F82"/>
                  </a:solidFill>
                </a:uFill>
                <a:latin typeface="Times New Roman"/>
                <a:cs typeface="Times New Roman"/>
              </a:rPr>
              <a:t> </a:t>
            </a:r>
            <a:r>
              <a:rPr sz="3200" i="0" u="sng" dirty="0">
                <a:uFill>
                  <a:solidFill>
                    <a:srgbClr val="155F82"/>
                  </a:solidFill>
                </a:uFill>
                <a:latin typeface="Times New Roman"/>
                <a:cs typeface="Times New Roman"/>
              </a:rPr>
              <a:t>THE</a:t>
            </a:r>
            <a:r>
              <a:rPr sz="3200" i="0" u="sng" spc="-110" dirty="0">
                <a:uFill>
                  <a:solidFill>
                    <a:srgbClr val="155F82"/>
                  </a:solidFill>
                </a:uFill>
                <a:latin typeface="Times New Roman"/>
                <a:cs typeface="Times New Roman"/>
              </a:rPr>
              <a:t> </a:t>
            </a:r>
            <a:r>
              <a:rPr sz="3200" i="0" u="sng" spc="-10" dirty="0">
                <a:uFill>
                  <a:solidFill>
                    <a:srgbClr val="155F82"/>
                  </a:solidFill>
                </a:uFill>
                <a:latin typeface="Times New Roman"/>
                <a:cs typeface="Times New Roman"/>
              </a:rPr>
              <a:t>STUDY</a:t>
            </a:r>
            <a:endParaRPr sz="3200">
              <a:latin typeface="Times New Roman"/>
              <a:cs typeface="Times New Roman"/>
            </a:endParaRPr>
          </a:p>
        </p:txBody>
      </p:sp>
      <p:sp>
        <p:nvSpPr>
          <p:cNvPr id="13" name="TextBox 12">
            <a:extLst>
              <a:ext uri="{FF2B5EF4-FFF2-40B4-BE49-F238E27FC236}">
                <a16:creationId xmlns:a16="http://schemas.microsoft.com/office/drawing/2014/main" id="{5EE50205-C66D-B97E-7CBD-F2F6E8FBA46F}"/>
              </a:ext>
            </a:extLst>
          </p:cNvPr>
          <p:cNvSpPr txBox="1"/>
          <p:nvPr/>
        </p:nvSpPr>
        <p:spPr>
          <a:xfrm>
            <a:off x="457200" y="1066800"/>
            <a:ext cx="11277600" cy="440120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lgn="just">
              <a:buFont typeface="Wingdings" panose="05000000000000000000" pitchFamily="2" charset="2"/>
              <a:buChar char="q"/>
            </a:pPr>
            <a:r>
              <a:rPr lang="en-IN" sz="2800" dirty="0">
                <a:latin typeface="+mn-lt"/>
              </a:rPr>
              <a:t>To develop an intelligent accident severity prediction system using Machine Learning.</a:t>
            </a:r>
          </a:p>
          <a:p>
            <a:pPr marL="285750" indent="-285750" algn="just">
              <a:buFont typeface="Wingdings" panose="05000000000000000000" pitchFamily="2" charset="2"/>
              <a:buChar char="q"/>
            </a:pPr>
            <a:r>
              <a:rPr lang="en-IN" sz="2800" dirty="0">
                <a:latin typeface="+mn-lt"/>
              </a:rPr>
              <a:t>To apply and analyse the performance of K-Nearest </a:t>
            </a:r>
            <a:r>
              <a:rPr lang="en-IN" sz="2800" dirty="0" err="1">
                <a:latin typeface="+mn-lt"/>
              </a:rPr>
              <a:t>Neighbors</a:t>
            </a:r>
            <a:r>
              <a:rPr lang="en-IN" sz="2800" dirty="0">
                <a:latin typeface="+mn-lt"/>
              </a:rPr>
              <a:t> (KNN) for severity classification.</a:t>
            </a:r>
          </a:p>
          <a:p>
            <a:pPr marL="285750" indent="-285750" algn="just">
              <a:buFont typeface="Wingdings" panose="05000000000000000000" pitchFamily="2" charset="2"/>
              <a:buChar char="q"/>
            </a:pPr>
            <a:r>
              <a:rPr lang="en-IN" sz="2800" dirty="0">
                <a:latin typeface="+mn-lt"/>
              </a:rPr>
              <a:t>To utilize DBSCAN for clustering accident data and detecting anomalies/noise.</a:t>
            </a:r>
          </a:p>
          <a:p>
            <a:pPr marL="285750" indent="-285750" algn="just">
              <a:buFont typeface="Wingdings" panose="05000000000000000000" pitchFamily="2" charset="2"/>
              <a:buChar char="q"/>
            </a:pPr>
            <a:r>
              <a:rPr lang="en-IN" sz="2800" dirty="0">
                <a:latin typeface="+mn-lt"/>
              </a:rPr>
              <a:t>To design a hybrid model (KNN + DBSCAN) that improves accuracy </a:t>
            </a:r>
            <a:r>
              <a:rPr lang="en-IN" sz="2800" dirty="0"/>
              <a:t>.</a:t>
            </a:r>
            <a:endParaRPr lang="en-IN" sz="2800" dirty="0">
              <a:latin typeface="+mn-lt"/>
            </a:endParaRPr>
          </a:p>
          <a:p>
            <a:pPr marL="285750" indent="-285750" algn="just">
              <a:buFont typeface="Wingdings" panose="05000000000000000000" pitchFamily="2" charset="2"/>
              <a:buChar char="q"/>
            </a:pPr>
            <a:r>
              <a:rPr lang="en-US" sz="2800" b="0" dirty="0"/>
              <a:t>To contribute to safer urban mobility through data-driven accident prevention and management strategies.</a:t>
            </a:r>
          </a:p>
          <a:p>
            <a:pPr marL="285750" indent="-285750" algn="just">
              <a:buFont typeface="Wingdings" panose="05000000000000000000" pitchFamily="2" charset="2"/>
              <a:buChar char="q"/>
            </a:pPr>
            <a:endParaRPr lang="en-IN" sz="2800"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82587" y="1339278"/>
            <a:ext cx="11605260" cy="4117153"/>
          </a:xfrm>
          <a:prstGeom prst="rect">
            <a:avLst/>
          </a:prstGeom>
        </p:spPr>
        <p:txBody>
          <a:bodyPr vert="horz" wrap="square" lIns="0" tIns="50165" rIns="0" bIns="0" rtlCol="0">
            <a:spAutoFit/>
          </a:bodyPr>
          <a:lstStyle/>
          <a:p>
            <a:pPr marL="469264" marR="18415" indent="-457200">
              <a:lnSpc>
                <a:spcPct val="91800"/>
              </a:lnSpc>
              <a:spcBef>
                <a:spcPts val="395"/>
              </a:spcBef>
              <a:buFont typeface="Wingdings" panose="05000000000000000000" pitchFamily="2" charset="2"/>
              <a:buChar char="q"/>
              <a:tabLst>
                <a:tab pos="241300" algn="l"/>
              </a:tabLst>
            </a:pPr>
            <a:endParaRPr lang="en-US" sz="2800" dirty="0">
              <a:latin typeface="+mn-lt"/>
            </a:endParaRPr>
          </a:p>
          <a:p>
            <a:pPr marL="12064" marR="18415">
              <a:lnSpc>
                <a:spcPct val="91800"/>
              </a:lnSpc>
              <a:spcBef>
                <a:spcPts val="395"/>
              </a:spcBef>
              <a:tabLst>
                <a:tab pos="241300" algn="l"/>
              </a:tabLst>
            </a:pPr>
            <a:endParaRPr lang="en-US" sz="2800" dirty="0">
              <a:latin typeface="+mn-lt"/>
            </a:endParaRPr>
          </a:p>
          <a:p>
            <a:pPr marL="469264" marR="18415" indent="-457200" algn="just">
              <a:lnSpc>
                <a:spcPct val="91800"/>
              </a:lnSpc>
              <a:spcBef>
                <a:spcPts val="395"/>
              </a:spcBef>
              <a:buFont typeface="Wingdings" panose="05000000000000000000" pitchFamily="2" charset="2"/>
              <a:buChar char="q"/>
              <a:tabLst>
                <a:tab pos="241300" algn="l"/>
              </a:tabLst>
            </a:pPr>
            <a:r>
              <a:rPr lang="en-US" sz="2800" dirty="0">
                <a:latin typeface="+mn-lt"/>
              </a:rPr>
              <a:t>Road traffic accidents cause significant loss of life and property, and predicting their severity remains a major challenge. Traditional models often fail to perform well due to noisy, imbalanced, and complex real-world datasets. Single algorithms like KNN or DBSCAN have limitations such as overfitting, poor handling of noise, or reduced accuracy. There is a need for a more reliable and accurate model that can effectively analyze accident data. Hence, this project proposes an integrated KNN–DBSCAN model to enhance accident prediction accuracy and robustness</a:t>
            </a:r>
            <a:r>
              <a:rPr lang="en-US" sz="2800" dirty="0"/>
              <a:t>.</a:t>
            </a:r>
            <a:endParaRPr sz="2750" dirty="0">
              <a:latin typeface="Trebuchet MS"/>
              <a:cs typeface="Trebuchet MS"/>
            </a:endParaRPr>
          </a:p>
        </p:txBody>
      </p:sp>
      <p:sp>
        <p:nvSpPr>
          <p:cNvPr id="4" name="object 4"/>
          <p:cNvSpPr/>
          <p:nvPr/>
        </p:nvSpPr>
        <p:spPr>
          <a:xfrm>
            <a:off x="3276599" y="5746881"/>
            <a:ext cx="4761865" cy="37465"/>
          </a:xfrm>
          <a:custGeom>
            <a:avLst/>
            <a:gdLst/>
            <a:ahLst/>
            <a:cxnLst/>
            <a:rect l="l" t="t" r="r" b="b"/>
            <a:pathLst>
              <a:path w="4761865" h="37465">
                <a:moveTo>
                  <a:pt x="0" y="0"/>
                </a:moveTo>
                <a:lnTo>
                  <a:pt x="4761738" y="36957"/>
                </a:lnTo>
              </a:path>
            </a:pathLst>
          </a:custGeom>
          <a:ln w="19050">
            <a:solidFill>
              <a:srgbClr val="155F82"/>
            </a:solidFill>
          </a:ln>
        </p:spPr>
        <p:txBody>
          <a:bodyPr wrap="square" lIns="0" tIns="0" rIns="0" bIns="0" rtlCol="0"/>
          <a:lstStyle/>
          <a:p>
            <a:endParaRPr/>
          </a:p>
        </p:txBody>
      </p:sp>
      <p:sp>
        <p:nvSpPr>
          <p:cNvPr id="6" name="Rectangle: Top Corners Rounded 5">
            <a:extLst>
              <a:ext uri="{FF2B5EF4-FFF2-40B4-BE49-F238E27FC236}">
                <a16:creationId xmlns:a16="http://schemas.microsoft.com/office/drawing/2014/main" id="{8737CC94-FE13-8772-6297-776736757CA5}"/>
              </a:ext>
            </a:extLst>
          </p:cNvPr>
          <p:cNvSpPr/>
          <p:nvPr/>
        </p:nvSpPr>
        <p:spPr>
          <a:xfrm>
            <a:off x="0" y="457200"/>
            <a:ext cx="12192000" cy="882078"/>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latin typeface="+mj-lt"/>
              </a:rPr>
              <a:t>PROBLEM STATEMENT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771010" y="349885"/>
            <a:ext cx="3889375" cy="449580"/>
          </a:xfrm>
          <a:prstGeom prst="rect">
            <a:avLst/>
          </a:prstGeom>
        </p:spPr>
        <p:txBody>
          <a:bodyPr vert="horz" wrap="square" lIns="0" tIns="16510" rIns="0" bIns="0" rtlCol="0">
            <a:spAutoFit/>
          </a:bodyPr>
          <a:lstStyle/>
          <a:p>
            <a:pPr marL="12700">
              <a:lnSpc>
                <a:spcPct val="100000"/>
              </a:lnSpc>
              <a:spcBef>
                <a:spcPts val="130"/>
              </a:spcBef>
            </a:pPr>
            <a:r>
              <a:rPr i="0" dirty="0">
                <a:latin typeface="Times New Roman"/>
                <a:cs typeface="Times New Roman"/>
              </a:rPr>
              <a:t>LITERATURE</a:t>
            </a:r>
            <a:r>
              <a:rPr i="0" spc="-55" dirty="0">
                <a:latin typeface="Times New Roman"/>
                <a:cs typeface="Times New Roman"/>
              </a:rPr>
              <a:t> </a:t>
            </a:r>
            <a:r>
              <a:rPr i="0" spc="-10" dirty="0">
                <a:latin typeface="Times New Roman"/>
                <a:cs typeface="Times New Roman"/>
              </a:rPr>
              <a:t>SURVEY</a:t>
            </a:r>
          </a:p>
        </p:txBody>
      </p:sp>
      <p:sp>
        <p:nvSpPr>
          <p:cNvPr id="7" name="TextBox 6">
            <a:extLst>
              <a:ext uri="{FF2B5EF4-FFF2-40B4-BE49-F238E27FC236}">
                <a16:creationId xmlns:a16="http://schemas.microsoft.com/office/drawing/2014/main" id="{5E5C04E3-B83F-5B6B-4738-5961097E95AD}"/>
              </a:ext>
            </a:extLst>
          </p:cNvPr>
          <p:cNvSpPr txBox="1"/>
          <p:nvPr/>
        </p:nvSpPr>
        <p:spPr>
          <a:xfrm>
            <a:off x="5791200" y="3126658"/>
            <a:ext cx="914400" cy="914400"/>
          </a:xfrm>
          <a:prstGeom prst="rect">
            <a:avLst/>
          </a:prstGeom>
          <a:noFill/>
        </p:spPr>
        <p:txBody>
          <a:bodyPr wrap="square" rtlCol="0">
            <a:spAutoFit/>
          </a:bodyPr>
          <a:lstStyle/>
          <a:p>
            <a:endParaRPr lang="en-IN" dirty="0"/>
          </a:p>
        </p:txBody>
      </p:sp>
      <p:graphicFrame>
        <p:nvGraphicFramePr>
          <p:cNvPr id="8" name="Table 7">
            <a:extLst>
              <a:ext uri="{FF2B5EF4-FFF2-40B4-BE49-F238E27FC236}">
                <a16:creationId xmlns:a16="http://schemas.microsoft.com/office/drawing/2014/main" id="{6CC85362-75D5-2F74-4FC6-EFF2E337F9E5}"/>
              </a:ext>
            </a:extLst>
          </p:cNvPr>
          <p:cNvGraphicFramePr>
            <a:graphicFrameLocks noGrp="1"/>
          </p:cNvGraphicFramePr>
          <p:nvPr>
            <p:extLst>
              <p:ext uri="{D42A27DB-BD31-4B8C-83A1-F6EECF244321}">
                <p14:modId xmlns:p14="http://schemas.microsoft.com/office/powerpoint/2010/main" val="1372650555"/>
              </p:ext>
            </p:extLst>
          </p:nvPr>
        </p:nvGraphicFramePr>
        <p:xfrm>
          <a:off x="76200" y="965782"/>
          <a:ext cx="11963400" cy="5663615"/>
        </p:xfrm>
        <a:graphic>
          <a:graphicData uri="http://schemas.openxmlformats.org/drawingml/2006/table">
            <a:tbl>
              <a:tblPr/>
              <a:tblGrid>
                <a:gridCol w="3105150">
                  <a:extLst>
                    <a:ext uri="{9D8B030D-6E8A-4147-A177-3AD203B41FA5}">
                      <a16:colId xmlns:a16="http://schemas.microsoft.com/office/drawing/2014/main" val="4125449030"/>
                    </a:ext>
                  </a:extLst>
                </a:gridCol>
                <a:gridCol w="2952750">
                  <a:extLst>
                    <a:ext uri="{9D8B030D-6E8A-4147-A177-3AD203B41FA5}">
                      <a16:colId xmlns:a16="http://schemas.microsoft.com/office/drawing/2014/main" val="1644214839"/>
                    </a:ext>
                  </a:extLst>
                </a:gridCol>
                <a:gridCol w="2952750">
                  <a:extLst>
                    <a:ext uri="{9D8B030D-6E8A-4147-A177-3AD203B41FA5}">
                      <a16:colId xmlns:a16="http://schemas.microsoft.com/office/drawing/2014/main" val="3619943388"/>
                    </a:ext>
                  </a:extLst>
                </a:gridCol>
                <a:gridCol w="2952750">
                  <a:extLst>
                    <a:ext uri="{9D8B030D-6E8A-4147-A177-3AD203B41FA5}">
                      <a16:colId xmlns:a16="http://schemas.microsoft.com/office/drawing/2014/main" val="523912327"/>
                    </a:ext>
                  </a:extLst>
                </a:gridCol>
              </a:tblGrid>
              <a:tr h="758959">
                <a:tc>
                  <a:txBody>
                    <a:bodyPr/>
                    <a:lstStyle/>
                    <a:p>
                      <a:pPr>
                        <a:buNone/>
                      </a:pPr>
                      <a:r>
                        <a:rPr lang="en-IN" sz="2000" b="1" dirty="0"/>
                        <a:t>Author / Year</a:t>
                      </a:r>
                      <a:endParaRPr lang="en-IN" sz="2000" dirty="0"/>
                    </a:p>
                  </a:txBody>
                  <a:tcPr marL="9322" marR="9322" marT="4661" marB="4661" anchor="ctr">
                    <a:lnL>
                      <a:noFill/>
                    </a:lnL>
                    <a:lnR>
                      <a:noFill/>
                    </a:lnR>
                    <a:lnT>
                      <a:noFill/>
                    </a:lnT>
                    <a:lnB>
                      <a:noFill/>
                    </a:lnB>
                    <a:solidFill>
                      <a:schemeClr val="tx2">
                        <a:lumMod val="40000"/>
                        <a:lumOff val="60000"/>
                      </a:schemeClr>
                    </a:solidFill>
                  </a:tcPr>
                </a:tc>
                <a:tc>
                  <a:txBody>
                    <a:bodyPr/>
                    <a:lstStyle/>
                    <a:p>
                      <a:pPr>
                        <a:buNone/>
                      </a:pPr>
                      <a:r>
                        <a:rPr lang="en-IN" sz="2000" b="1" dirty="0"/>
                        <a:t>Methodology / Technology Used</a:t>
                      </a:r>
                      <a:endParaRPr lang="en-IN" sz="2000" dirty="0"/>
                    </a:p>
                  </a:txBody>
                  <a:tcPr marL="9322" marR="9322" marT="4661" marB="4661" anchor="ctr">
                    <a:lnL>
                      <a:noFill/>
                    </a:lnL>
                    <a:lnR>
                      <a:noFill/>
                    </a:lnR>
                    <a:lnT>
                      <a:noFill/>
                    </a:lnT>
                    <a:lnB>
                      <a:noFill/>
                    </a:lnB>
                    <a:solidFill>
                      <a:schemeClr val="tx2">
                        <a:lumMod val="40000"/>
                        <a:lumOff val="60000"/>
                      </a:schemeClr>
                    </a:solidFill>
                  </a:tcPr>
                </a:tc>
                <a:tc>
                  <a:txBody>
                    <a:bodyPr/>
                    <a:lstStyle/>
                    <a:p>
                      <a:pPr>
                        <a:buNone/>
                      </a:pPr>
                      <a:r>
                        <a:rPr lang="en-IN" sz="2000" b="1" dirty="0"/>
                        <a:t>Key Findings &amp; Results</a:t>
                      </a:r>
                      <a:endParaRPr lang="en-IN" sz="2000" dirty="0"/>
                    </a:p>
                  </a:txBody>
                  <a:tcPr marL="9322" marR="9322" marT="4661" marB="4661" anchor="ctr">
                    <a:lnL>
                      <a:noFill/>
                    </a:lnL>
                    <a:lnR>
                      <a:noFill/>
                    </a:lnR>
                    <a:lnT>
                      <a:noFill/>
                    </a:lnT>
                    <a:lnB>
                      <a:noFill/>
                    </a:lnB>
                    <a:solidFill>
                      <a:schemeClr val="tx2">
                        <a:lumMod val="40000"/>
                        <a:lumOff val="60000"/>
                      </a:schemeClr>
                    </a:solidFill>
                  </a:tcPr>
                </a:tc>
                <a:tc>
                  <a:txBody>
                    <a:bodyPr/>
                    <a:lstStyle/>
                    <a:p>
                      <a:pPr>
                        <a:buNone/>
                      </a:pPr>
                      <a:r>
                        <a:rPr lang="en-IN" sz="2000" b="1" dirty="0"/>
                        <a:t>Limitations / Gaps</a:t>
                      </a:r>
                      <a:endParaRPr lang="en-IN" sz="2000" dirty="0"/>
                    </a:p>
                  </a:txBody>
                  <a:tcPr marL="9322" marR="9322" marT="4661" marB="4661"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2230605849"/>
                  </a:ext>
                </a:extLst>
              </a:tr>
              <a:tr h="1506487">
                <a:tc>
                  <a:txBody>
                    <a:bodyPr/>
                    <a:lstStyle/>
                    <a:p>
                      <a:pPr>
                        <a:buNone/>
                      </a:pPr>
                      <a:r>
                        <a:rPr lang="en-IN" sz="2000" dirty="0" err="1"/>
                        <a:t>AlHashmi</a:t>
                      </a:r>
                      <a:r>
                        <a:rPr lang="en-IN" sz="2000" dirty="0"/>
                        <a:t>, 2024</a:t>
                      </a:r>
                    </a:p>
                  </a:txBody>
                  <a:tcPr marL="9322" marR="9322" marT="4661" marB="4661" anchor="ctr">
                    <a:lnL>
                      <a:noFill/>
                    </a:lnL>
                    <a:lnR>
                      <a:noFill/>
                    </a:lnR>
                    <a:lnT>
                      <a:noFill/>
                    </a:lnT>
                    <a:lnB>
                      <a:noFill/>
                    </a:lnB>
                    <a:solidFill>
                      <a:schemeClr val="accent1">
                        <a:lumMod val="20000"/>
                        <a:lumOff val="80000"/>
                      </a:schemeClr>
                    </a:solidFill>
                  </a:tcPr>
                </a:tc>
                <a:tc>
                  <a:txBody>
                    <a:bodyPr/>
                    <a:lstStyle/>
                    <a:p>
                      <a:pPr>
                        <a:buNone/>
                      </a:pPr>
                      <a:r>
                        <a:rPr lang="en-IN" sz="2000" dirty="0"/>
                        <a:t>Hybrid KNN + DBSCAN</a:t>
                      </a:r>
                    </a:p>
                  </a:txBody>
                  <a:tcPr marL="9322" marR="9322" marT="4661" marB="4661" anchor="ctr">
                    <a:lnL>
                      <a:noFill/>
                    </a:lnL>
                    <a:lnR>
                      <a:noFill/>
                    </a:lnR>
                    <a:lnT>
                      <a:noFill/>
                    </a:lnT>
                    <a:lnB>
                      <a:noFill/>
                    </a:lnB>
                    <a:solidFill>
                      <a:schemeClr val="accent1">
                        <a:lumMod val="20000"/>
                        <a:lumOff val="80000"/>
                      </a:schemeClr>
                    </a:solidFill>
                  </a:tcPr>
                </a:tc>
                <a:tc>
                  <a:txBody>
                    <a:bodyPr/>
                    <a:lstStyle/>
                    <a:p>
                      <a:pPr>
                        <a:buNone/>
                      </a:pPr>
                      <a:r>
                        <a:rPr lang="en-US" sz="2000" dirty="0"/>
                        <a:t>Improved prediction accuracy; detects accident hotspots; handles spatial outliers</a:t>
                      </a:r>
                    </a:p>
                  </a:txBody>
                  <a:tcPr marL="9322" marR="9322" marT="4661" marB="4661" anchor="ctr">
                    <a:lnL>
                      <a:noFill/>
                    </a:lnL>
                    <a:lnR>
                      <a:noFill/>
                    </a:lnR>
                    <a:lnT>
                      <a:noFill/>
                    </a:lnT>
                    <a:lnB>
                      <a:noFill/>
                    </a:lnB>
                    <a:solidFill>
                      <a:schemeClr val="accent1">
                        <a:lumMod val="20000"/>
                        <a:lumOff val="80000"/>
                      </a:schemeClr>
                    </a:solidFill>
                  </a:tcPr>
                </a:tc>
                <a:tc>
                  <a:txBody>
                    <a:bodyPr/>
                    <a:lstStyle/>
                    <a:p>
                      <a:pPr>
                        <a:buNone/>
                      </a:pPr>
                      <a:r>
                        <a:rPr lang="en-US" sz="2000" dirty="0"/>
                        <a:t>Tested on limited datasets; real-time deployment not explored</a:t>
                      </a:r>
                    </a:p>
                  </a:txBody>
                  <a:tcPr marL="9322" marR="9322" marT="4661" marB="4661"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547563537"/>
                  </a:ext>
                </a:extLst>
              </a:tr>
              <a:tr h="1132723">
                <a:tc>
                  <a:txBody>
                    <a:bodyPr/>
                    <a:lstStyle/>
                    <a:p>
                      <a:pPr>
                        <a:buNone/>
                      </a:pPr>
                      <a:r>
                        <a:rPr lang="en-IN" sz="2000" dirty="0" err="1"/>
                        <a:t>Briki</a:t>
                      </a:r>
                      <a:r>
                        <a:rPr lang="en-IN" sz="2000" dirty="0"/>
                        <a:t> et al., 2024</a:t>
                      </a:r>
                    </a:p>
                  </a:txBody>
                  <a:tcPr marL="9322" marR="9322" marT="4661" marB="4661" anchor="ctr">
                    <a:lnL>
                      <a:noFill/>
                    </a:lnL>
                    <a:lnR>
                      <a:noFill/>
                    </a:lnR>
                    <a:lnT>
                      <a:noFill/>
                    </a:lnT>
                    <a:lnB>
                      <a:noFill/>
                    </a:lnB>
                    <a:solidFill>
                      <a:schemeClr val="accent1">
                        <a:lumMod val="40000"/>
                        <a:lumOff val="60000"/>
                      </a:schemeClr>
                    </a:solidFill>
                  </a:tcPr>
                </a:tc>
                <a:tc>
                  <a:txBody>
                    <a:bodyPr/>
                    <a:lstStyle/>
                    <a:p>
                      <a:pPr>
                        <a:buNone/>
                      </a:pPr>
                      <a:r>
                        <a:rPr lang="en-IN" sz="2000" dirty="0"/>
                        <a:t>Cluster-based severity resampling + Classification</a:t>
                      </a:r>
                    </a:p>
                  </a:txBody>
                  <a:tcPr marL="9322" marR="9322" marT="4661" marB="4661" anchor="ctr">
                    <a:lnL>
                      <a:noFill/>
                    </a:lnL>
                    <a:lnR>
                      <a:noFill/>
                    </a:lnR>
                    <a:lnT>
                      <a:noFill/>
                    </a:lnT>
                    <a:lnB>
                      <a:noFill/>
                    </a:lnB>
                    <a:solidFill>
                      <a:schemeClr val="accent1">
                        <a:lumMod val="40000"/>
                        <a:lumOff val="60000"/>
                      </a:schemeClr>
                    </a:solidFill>
                  </a:tcPr>
                </a:tc>
                <a:tc>
                  <a:txBody>
                    <a:bodyPr/>
                    <a:lstStyle/>
                    <a:p>
                      <a:pPr>
                        <a:buNone/>
                      </a:pPr>
                      <a:r>
                        <a:rPr lang="en-US" sz="2000" dirty="0"/>
                        <a:t>Addressed class imbalance; improved model performance</a:t>
                      </a:r>
                    </a:p>
                  </a:txBody>
                  <a:tcPr marL="9322" marR="9322" marT="4661" marB="4661" anchor="ctr">
                    <a:lnL>
                      <a:noFill/>
                    </a:lnL>
                    <a:lnR>
                      <a:noFill/>
                    </a:lnR>
                    <a:lnT>
                      <a:noFill/>
                    </a:lnT>
                    <a:lnB>
                      <a:noFill/>
                    </a:lnB>
                    <a:solidFill>
                      <a:schemeClr val="accent1">
                        <a:lumMod val="40000"/>
                        <a:lumOff val="60000"/>
                      </a:schemeClr>
                    </a:solidFill>
                  </a:tcPr>
                </a:tc>
                <a:tc>
                  <a:txBody>
                    <a:bodyPr/>
                    <a:lstStyle/>
                    <a:p>
                      <a:pPr>
                        <a:buNone/>
                      </a:pPr>
                      <a:r>
                        <a:rPr lang="en-US" sz="2000" dirty="0"/>
                        <a:t>Focused mainly on dataset preprocessing; not real-time</a:t>
                      </a:r>
                    </a:p>
                  </a:txBody>
                  <a:tcPr marL="9322" marR="9322" marT="4661" marB="4661" anchor="ctr">
                    <a:lnL>
                      <a:noFill/>
                    </a:lnL>
                    <a:lnR>
                      <a:noFill/>
                    </a:lnR>
                    <a:lnT>
                      <a:noFill/>
                    </a:lnT>
                    <a:lnB>
                      <a:noFill/>
                    </a:lnB>
                    <a:solidFill>
                      <a:schemeClr val="accent1">
                        <a:lumMod val="40000"/>
                        <a:lumOff val="60000"/>
                      </a:schemeClr>
                    </a:solidFill>
                  </a:tcPr>
                </a:tc>
                <a:extLst>
                  <a:ext uri="{0D108BD9-81ED-4DB2-BD59-A6C34878D82A}">
                    <a16:rowId xmlns:a16="http://schemas.microsoft.com/office/drawing/2014/main" val="300069402"/>
                  </a:ext>
                </a:extLst>
              </a:tr>
              <a:tr h="1132723">
                <a:tc>
                  <a:txBody>
                    <a:bodyPr/>
                    <a:lstStyle/>
                    <a:p>
                      <a:pPr>
                        <a:buNone/>
                      </a:pPr>
                      <a:r>
                        <a:rPr lang="en-IN" sz="2000" dirty="0"/>
                        <a:t>Chakravarthi, 2025</a:t>
                      </a:r>
                    </a:p>
                  </a:txBody>
                  <a:tcPr marL="9322" marR="9322" marT="4661" marB="4661" anchor="ctr">
                    <a:lnL>
                      <a:noFill/>
                    </a:lnL>
                    <a:lnR>
                      <a:noFill/>
                    </a:lnR>
                    <a:lnT>
                      <a:noFill/>
                    </a:lnT>
                    <a:lnB>
                      <a:noFill/>
                    </a:lnB>
                    <a:solidFill>
                      <a:schemeClr val="accent1">
                        <a:lumMod val="60000"/>
                        <a:lumOff val="40000"/>
                      </a:schemeClr>
                    </a:solidFill>
                  </a:tcPr>
                </a:tc>
                <a:tc>
                  <a:txBody>
                    <a:bodyPr/>
                    <a:lstStyle/>
                    <a:p>
                      <a:pPr>
                        <a:buNone/>
                      </a:pPr>
                      <a:r>
                        <a:rPr lang="en-IN" sz="2000" dirty="0"/>
                        <a:t>Hybrid KNN-DBSCAN</a:t>
                      </a:r>
                    </a:p>
                  </a:txBody>
                  <a:tcPr marL="9322" marR="9322" marT="4661" marB="4661" anchor="ctr">
                    <a:lnL>
                      <a:noFill/>
                    </a:lnL>
                    <a:lnR>
                      <a:noFill/>
                    </a:lnR>
                    <a:lnT>
                      <a:noFill/>
                    </a:lnT>
                    <a:lnB>
                      <a:noFill/>
                    </a:lnB>
                    <a:solidFill>
                      <a:schemeClr val="accent1">
                        <a:lumMod val="60000"/>
                        <a:lumOff val="40000"/>
                      </a:schemeClr>
                    </a:solidFill>
                  </a:tcPr>
                </a:tc>
                <a:tc>
                  <a:txBody>
                    <a:bodyPr/>
                    <a:lstStyle/>
                    <a:p>
                      <a:pPr>
                        <a:buNone/>
                      </a:pPr>
                      <a:r>
                        <a:rPr lang="en-US" sz="2000" dirty="0"/>
                        <a:t>Enhanced detection of clusters and outliers; better severity prediction</a:t>
                      </a:r>
                    </a:p>
                  </a:txBody>
                  <a:tcPr marL="9322" marR="9322" marT="4661" marB="4661" anchor="ctr">
                    <a:lnL>
                      <a:noFill/>
                    </a:lnL>
                    <a:lnR>
                      <a:noFill/>
                    </a:lnR>
                    <a:lnT>
                      <a:noFill/>
                    </a:lnT>
                    <a:lnB>
                      <a:noFill/>
                    </a:lnB>
                    <a:solidFill>
                      <a:schemeClr val="accent1">
                        <a:lumMod val="60000"/>
                        <a:lumOff val="40000"/>
                      </a:schemeClr>
                    </a:solidFill>
                  </a:tcPr>
                </a:tc>
                <a:tc>
                  <a:txBody>
                    <a:bodyPr/>
                    <a:lstStyle/>
                    <a:p>
                      <a:pPr>
                        <a:buNone/>
                      </a:pPr>
                      <a:r>
                        <a:rPr lang="en-US" sz="2000" dirty="0"/>
                        <a:t>Requires careful parameter tuning; computationally intensive</a:t>
                      </a:r>
                    </a:p>
                  </a:txBody>
                  <a:tcPr marL="9322" marR="9322" marT="4661" marB="4661"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4196745549"/>
                  </a:ext>
                </a:extLst>
              </a:tr>
              <a:tr h="1132723">
                <a:tc>
                  <a:txBody>
                    <a:bodyPr/>
                    <a:lstStyle/>
                    <a:p>
                      <a:pPr>
                        <a:buNone/>
                      </a:pPr>
                      <a:r>
                        <a:rPr lang="en-IN" sz="2000" dirty="0"/>
                        <a:t>Khosravi et al., 2024</a:t>
                      </a:r>
                    </a:p>
                  </a:txBody>
                  <a:tcPr marL="9322" marR="9322" marT="4661" marB="4661" anchor="ctr">
                    <a:lnL>
                      <a:noFill/>
                    </a:lnL>
                    <a:lnR>
                      <a:noFill/>
                    </a:lnR>
                    <a:lnT>
                      <a:noFill/>
                    </a:lnT>
                    <a:lnB>
                      <a:noFill/>
                    </a:lnB>
                    <a:solidFill>
                      <a:schemeClr val="accent1">
                        <a:lumMod val="20000"/>
                        <a:lumOff val="80000"/>
                      </a:schemeClr>
                    </a:solidFill>
                  </a:tcPr>
                </a:tc>
                <a:tc>
                  <a:txBody>
                    <a:bodyPr/>
                    <a:lstStyle/>
                    <a:p>
                      <a:pPr>
                        <a:buNone/>
                      </a:pPr>
                      <a:r>
                        <a:rPr lang="en-IN" sz="2000" dirty="0"/>
                        <a:t>KNN</a:t>
                      </a:r>
                    </a:p>
                  </a:txBody>
                  <a:tcPr marL="9322" marR="9322" marT="4661" marB="4661" anchor="ctr">
                    <a:lnL>
                      <a:noFill/>
                    </a:lnL>
                    <a:lnR>
                      <a:noFill/>
                    </a:lnR>
                    <a:lnT>
                      <a:noFill/>
                    </a:lnT>
                    <a:lnB>
                      <a:noFill/>
                    </a:lnB>
                    <a:solidFill>
                      <a:schemeClr val="accent1">
                        <a:lumMod val="20000"/>
                        <a:lumOff val="80000"/>
                      </a:schemeClr>
                    </a:solidFill>
                  </a:tcPr>
                </a:tc>
                <a:tc>
                  <a:txBody>
                    <a:bodyPr/>
                    <a:lstStyle/>
                    <a:p>
                      <a:pPr>
                        <a:buNone/>
                      </a:pPr>
                      <a:r>
                        <a:rPr lang="en-US" sz="2000" dirty="0"/>
                        <a:t>High accuracy in accident severity prediction; simple to implement</a:t>
                      </a:r>
                    </a:p>
                  </a:txBody>
                  <a:tcPr marL="9322" marR="9322" marT="4661" marB="4661" anchor="ctr">
                    <a:lnL>
                      <a:noFill/>
                    </a:lnL>
                    <a:lnR>
                      <a:noFill/>
                    </a:lnR>
                    <a:lnT>
                      <a:noFill/>
                    </a:lnT>
                    <a:lnB>
                      <a:noFill/>
                    </a:lnB>
                    <a:solidFill>
                      <a:schemeClr val="accent1">
                        <a:lumMod val="20000"/>
                        <a:lumOff val="80000"/>
                      </a:schemeClr>
                    </a:solidFill>
                  </a:tcPr>
                </a:tc>
                <a:tc>
                  <a:txBody>
                    <a:bodyPr/>
                    <a:lstStyle/>
                    <a:p>
                      <a:pPr>
                        <a:buNone/>
                      </a:pPr>
                      <a:r>
                        <a:rPr lang="en-US" sz="2000" dirty="0"/>
                        <a:t>Sensitive to noisy data; limited in handling spatial clustering</a:t>
                      </a:r>
                    </a:p>
                  </a:txBody>
                  <a:tcPr marL="9322" marR="9322" marT="4661" marB="4661"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625600930"/>
                  </a:ext>
                </a:extLst>
              </a:tr>
            </a:tbl>
          </a:graphicData>
        </a:graphic>
      </p:graphicFrame>
      <p:cxnSp>
        <p:nvCxnSpPr>
          <p:cNvPr id="11" name="Straight Connector 10">
            <a:extLst>
              <a:ext uri="{FF2B5EF4-FFF2-40B4-BE49-F238E27FC236}">
                <a16:creationId xmlns:a16="http://schemas.microsoft.com/office/drawing/2014/main" id="{20D6A2AB-B3D3-6925-E091-4ECB83DC9997}"/>
              </a:ext>
            </a:extLst>
          </p:cNvPr>
          <p:cNvCxnSpPr/>
          <p:nvPr/>
        </p:nvCxnSpPr>
        <p:spPr>
          <a:xfrm>
            <a:off x="3657600" y="799465"/>
            <a:ext cx="4140000" cy="0"/>
          </a:xfrm>
          <a:prstGeom prst="line">
            <a:avLst/>
          </a:prstGeom>
          <a:ln w="38100"/>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181" y="0"/>
            <a:ext cx="1671955" cy="1567815"/>
          </a:xfrm>
          <a:custGeom>
            <a:avLst/>
            <a:gdLst/>
            <a:ahLst/>
            <a:cxnLst/>
            <a:rect l="l" t="t" r="r" b="b"/>
            <a:pathLst>
              <a:path w="1671955" h="1567815">
                <a:moveTo>
                  <a:pt x="1671866" y="275475"/>
                </a:moveTo>
                <a:lnTo>
                  <a:pt x="1396403" y="0"/>
                </a:lnTo>
                <a:lnTo>
                  <a:pt x="0" y="0"/>
                </a:lnTo>
                <a:lnTo>
                  <a:pt x="0" y="1188339"/>
                </a:lnTo>
                <a:lnTo>
                  <a:pt x="379514" y="1567815"/>
                </a:lnTo>
                <a:lnTo>
                  <a:pt x="980821" y="966508"/>
                </a:lnTo>
                <a:lnTo>
                  <a:pt x="1215504" y="1201166"/>
                </a:lnTo>
                <a:lnTo>
                  <a:pt x="1671866" y="744855"/>
                </a:lnTo>
                <a:lnTo>
                  <a:pt x="1437157" y="510184"/>
                </a:lnTo>
                <a:lnTo>
                  <a:pt x="1671866" y="275475"/>
                </a:lnTo>
                <a:close/>
              </a:path>
            </a:pathLst>
          </a:custGeom>
          <a:solidFill>
            <a:srgbClr val="155F82">
              <a:alpha val="30195"/>
            </a:srgbClr>
          </a:solidFill>
        </p:spPr>
        <p:txBody>
          <a:bodyPr wrap="square" lIns="0" tIns="0" rIns="0" bIns="0" rtlCol="0"/>
          <a:lstStyle/>
          <a:p>
            <a:endParaRPr/>
          </a:p>
        </p:txBody>
      </p:sp>
      <p:sp>
        <p:nvSpPr>
          <p:cNvPr id="3" name="object 3"/>
          <p:cNvSpPr/>
          <p:nvPr/>
        </p:nvSpPr>
        <p:spPr>
          <a:xfrm>
            <a:off x="9353550" y="0"/>
            <a:ext cx="2838450" cy="1485265"/>
          </a:xfrm>
          <a:custGeom>
            <a:avLst/>
            <a:gdLst/>
            <a:ahLst/>
            <a:cxnLst/>
            <a:rect l="l" t="t" r="r" b="b"/>
            <a:pathLst>
              <a:path w="2838450" h="1485265">
                <a:moveTo>
                  <a:pt x="2838450" y="0"/>
                </a:moveTo>
                <a:lnTo>
                  <a:pt x="0" y="0"/>
                </a:lnTo>
                <a:lnTo>
                  <a:pt x="793089" y="753262"/>
                </a:lnTo>
                <a:lnTo>
                  <a:pt x="547497" y="998855"/>
                </a:lnTo>
                <a:lnTo>
                  <a:pt x="1033653" y="1485011"/>
                </a:lnTo>
                <a:lnTo>
                  <a:pt x="1291780" y="1226883"/>
                </a:lnTo>
                <a:lnTo>
                  <a:pt x="1554480" y="1476375"/>
                </a:lnTo>
                <a:lnTo>
                  <a:pt x="2838450" y="256794"/>
                </a:lnTo>
                <a:lnTo>
                  <a:pt x="2838450" y="0"/>
                </a:lnTo>
                <a:close/>
              </a:path>
            </a:pathLst>
          </a:custGeom>
          <a:solidFill>
            <a:srgbClr val="0E9ED4">
              <a:alpha val="30195"/>
            </a:srgbClr>
          </a:solidFill>
        </p:spPr>
        <p:txBody>
          <a:bodyPr wrap="square" lIns="0" tIns="0" rIns="0" bIns="0" rtlCol="0"/>
          <a:lstStyle/>
          <a:p>
            <a:endParaRPr/>
          </a:p>
        </p:txBody>
      </p:sp>
      <p:grpSp>
        <p:nvGrpSpPr>
          <p:cNvPr id="4" name="object 4"/>
          <p:cNvGrpSpPr/>
          <p:nvPr/>
        </p:nvGrpSpPr>
        <p:grpSpPr>
          <a:xfrm>
            <a:off x="3314700" y="647700"/>
            <a:ext cx="6153150" cy="6210300"/>
            <a:chOff x="3314700" y="647700"/>
            <a:chExt cx="6153150" cy="6210300"/>
          </a:xfrm>
        </p:grpSpPr>
        <p:sp>
          <p:nvSpPr>
            <p:cNvPr id="5" name="object 5"/>
            <p:cNvSpPr/>
            <p:nvPr/>
          </p:nvSpPr>
          <p:spPr>
            <a:xfrm>
              <a:off x="7972425" y="6115050"/>
              <a:ext cx="1495425" cy="742950"/>
            </a:xfrm>
            <a:custGeom>
              <a:avLst/>
              <a:gdLst/>
              <a:ahLst/>
              <a:cxnLst/>
              <a:rect l="l" t="t" r="r" b="b"/>
              <a:pathLst>
                <a:path w="1495425" h="742950">
                  <a:moveTo>
                    <a:pt x="747776" y="0"/>
                  </a:moveTo>
                  <a:lnTo>
                    <a:pt x="0" y="742950"/>
                  </a:lnTo>
                  <a:lnTo>
                    <a:pt x="1495425" y="742950"/>
                  </a:lnTo>
                  <a:lnTo>
                    <a:pt x="747776" y="0"/>
                  </a:lnTo>
                  <a:close/>
                </a:path>
              </a:pathLst>
            </a:custGeom>
            <a:solidFill>
              <a:srgbClr val="155F82">
                <a:alpha val="30195"/>
              </a:srgbClr>
            </a:solidFill>
          </p:spPr>
          <p:txBody>
            <a:bodyPr wrap="square" lIns="0" tIns="0" rIns="0" bIns="0" rtlCol="0"/>
            <a:lstStyle/>
            <a:p>
              <a:endParaRPr/>
            </a:p>
          </p:txBody>
        </p:sp>
        <p:pic>
          <p:nvPicPr>
            <p:cNvPr id="6" name="object 6"/>
            <p:cNvPicPr/>
            <p:nvPr/>
          </p:nvPicPr>
          <p:blipFill>
            <a:blip r:embed="rId2" cstate="print"/>
            <a:stretch>
              <a:fillRect/>
            </a:stretch>
          </p:blipFill>
          <p:spPr>
            <a:xfrm>
              <a:off x="3314700" y="647700"/>
              <a:ext cx="5562600" cy="5562600"/>
            </a:xfrm>
            <a:prstGeom prst="rect">
              <a:avLst/>
            </a:prstGeom>
          </p:spPr>
        </p:pic>
        <p:sp>
          <p:nvSpPr>
            <p:cNvPr id="7" name="object 7"/>
            <p:cNvSpPr/>
            <p:nvPr/>
          </p:nvSpPr>
          <p:spPr>
            <a:xfrm>
              <a:off x="7600950" y="6448425"/>
              <a:ext cx="819150" cy="409575"/>
            </a:xfrm>
            <a:custGeom>
              <a:avLst/>
              <a:gdLst/>
              <a:ahLst/>
              <a:cxnLst/>
              <a:rect l="l" t="t" r="r" b="b"/>
              <a:pathLst>
                <a:path w="819150" h="409575">
                  <a:moveTo>
                    <a:pt x="409575" y="0"/>
                  </a:moveTo>
                  <a:lnTo>
                    <a:pt x="0" y="409575"/>
                  </a:lnTo>
                  <a:lnTo>
                    <a:pt x="819150" y="409575"/>
                  </a:lnTo>
                  <a:lnTo>
                    <a:pt x="409575" y="0"/>
                  </a:lnTo>
                  <a:close/>
                </a:path>
              </a:pathLst>
            </a:custGeom>
            <a:solidFill>
              <a:srgbClr val="155F82">
                <a:alpha val="30195"/>
              </a:srgbClr>
            </a:solidFill>
          </p:spPr>
          <p:txBody>
            <a:bodyPr wrap="square" lIns="0" tIns="0" rIns="0" bIns="0" rtlCol="0"/>
            <a:lstStyle/>
            <a:p>
              <a:endParaRPr/>
            </a:p>
          </p:txBody>
        </p:sp>
      </p:grpSp>
      <p:sp>
        <p:nvSpPr>
          <p:cNvPr id="8" name="object 8"/>
          <p:cNvSpPr txBox="1"/>
          <p:nvPr/>
        </p:nvSpPr>
        <p:spPr>
          <a:xfrm>
            <a:off x="8092693" y="895349"/>
            <a:ext cx="284480" cy="632460"/>
          </a:xfrm>
          <a:prstGeom prst="rect">
            <a:avLst/>
          </a:prstGeom>
        </p:spPr>
        <p:txBody>
          <a:bodyPr vert="horz" wrap="square" lIns="0" tIns="16510" rIns="0" bIns="0" rtlCol="0">
            <a:spAutoFit/>
          </a:bodyPr>
          <a:lstStyle/>
          <a:p>
            <a:pPr marL="12700">
              <a:lnSpc>
                <a:spcPct val="100000"/>
              </a:lnSpc>
              <a:spcBef>
                <a:spcPts val="130"/>
              </a:spcBef>
            </a:pPr>
            <a:r>
              <a:rPr sz="3950" b="1" spc="-105" dirty="0">
                <a:solidFill>
                  <a:srgbClr val="1F5C95"/>
                </a:solidFill>
                <a:latin typeface="Trebuchet MS"/>
                <a:cs typeface="Trebuchet MS"/>
              </a:rPr>
              <a:t>L</a:t>
            </a:r>
            <a:endParaRPr sz="395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accent1">
              <a:lumMod val="60000"/>
              <a:lumOff val="40000"/>
            </a:schemeClr>
          </a:fgClr>
          <a:bgClr>
            <a:schemeClr val="bg1">
              <a:lumMod val="95000"/>
            </a:schemeClr>
          </a:bgClr>
        </a:pattFill>
        <a:effectLst/>
      </p:bgPr>
    </p:bg>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FC430BEB-3AF4-F488-DE6E-DF69AC3D3F5B}"/>
              </a:ext>
            </a:extLst>
          </p:cNvPr>
          <p:cNvPicPr/>
          <p:nvPr/>
        </p:nvPicPr>
        <p:blipFill>
          <a:blip r:embed="rId2" cstate="print">
            <a:duotone>
              <a:schemeClr val="accent1">
                <a:shade val="45000"/>
                <a:satMod val="135000"/>
              </a:schemeClr>
              <a:prstClr val="white"/>
            </a:duotone>
          </a:blip>
          <a:stretch>
            <a:fillRect/>
          </a:stretch>
        </p:blipFill>
        <p:spPr>
          <a:xfrm>
            <a:off x="3048000" y="762000"/>
            <a:ext cx="5876925" cy="5958800"/>
          </a:xfrm>
          <a:prstGeom prst="rect">
            <a:avLst/>
          </a:prstGeom>
          <a:scene3d>
            <a:camera prst="orthographicFront"/>
            <a:lightRig rig="threePt" dir="t"/>
          </a:scene3d>
          <a:sp3d>
            <a:bevelT prst="relaxedInset"/>
          </a:sp3d>
        </p:spPr>
      </p:pic>
      <p:sp>
        <p:nvSpPr>
          <p:cNvPr id="3" name="TextBox 2">
            <a:extLst>
              <a:ext uri="{FF2B5EF4-FFF2-40B4-BE49-F238E27FC236}">
                <a16:creationId xmlns:a16="http://schemas.microsoft.com/office/drawing/2014/main" id="{E828102F-1315-2348-9B06-AFE52D96BAE3}"/>
              </a:ext>
            </a:extLst>
          </p:cNvPr>
          <p:cNvSpPr txBox="1"/>
          <p:nvPr/>
        </p:nvSpPr>
        <p:spPr>
          <a:xfrm>
            <a:off x="838200" y="228600"/>
            <a:ext cx="11125200" cy="461665"/>
          </a:xfrm>
          <a:prstGeom prst="rect">
            <a:avLst/>
          </a:prstGeom>
          <a:noFill/>
        </p:spPr>
        <p:txBody>
          <a:bodyPr wrap="square" rtlCol="0">
            <a:spAutoFit/>
          </a:bodyPr>
          <a:lstStyle/>
          <a:p>
            <a:pPr algn="just"/>
            <a:r>
              <a:rPr lang="en-US" dirty="0"/>
              <a:t>           </a:t>
            </a:r>
            <a:r>
              <a:rPr lang="en-US" sz="2400" b="1" dirty="0"/>
              <a:t>"Proposed Methodology for Accident Severity Prediction”</a:t>
            </a:r>
            <a:endParaRPr lang="en-IN" sz="2400" b="1" dirty="0"/>
          </a:p>
        </p:txBody>
      </p:sp>
    </p:spTree>
    <p:extLst>
      <p:ext uri="{BB962C8B-B14F-4D97-AF65-F5344CB8AC3E}">
        <p14:creationId xmlns:p14="http://schemas.microsoft.com/office/powerpoint/2010/main" val="3703838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76600" y="728051"/>
            <a:ext cx="255730" cy="330559"/>
          </a:xfrm>
          <a:prstGeom prst="rect">
            <a:avLst/>
          </a:prstGeom>
        </p:spPr>
      </p:pic>
      <p:sp>
        <p:nvSpPr>
          <p:cNvPr id="3" name="object 3"/>
          <p:cNvSpPr txBox="1">
            <a:spLocks noGrp="1"/>
          </p:cNvSpPr>
          <p:nvPr>
            <p:ph type="title"/>
          </p:nvPr>
        </p:nvSpPr>
        <p:spPr>
          <a:xfrm>
            <a:off x="3733800" y="609600"/>
            <a:ext cx="5429885" cy="567463"/>
          </a:xfrm>
          <a:prstGeom prst="rect">
            <a:avLst/>
          </a:prstGeom>
        </p:spPr>
        <p:txBody>
          <a:bodyPr vert="horz" wrap="square" lIns="0" tIns="13335" rIns="0" bIns="0" rtlCol="0">
            <a:spAutoFit/>
          </a:bodyPr>
          <a:lstStyle/>
          <a:p>
            <a:pPr marL="12700">
              <a:lnSpc>
                <a:spcPct val="100000"/>
              </a:lnSpc>
              <a:spcBef>
                <a:spcPts val="105"/>
              </a:spcBef>
            </a:pPr>
            <a:r>
              <a:rPr sz="3600" i="0" dirty="0">
                <a:latin typeface="+mj-lt"/>
                <a:cs typeface="Times New Roman"/>
              </a:rPr>
              <a:t>Proposed</a:t>
            </a:r>
            <a:r>
              <a:rPr sz="3600" i="0" spc="-175" dirty="0">
                <a:latin typeface="+mj-lt"/>
                <a:cs typeface="Times New Roman"/>
              </a:rPr>
              <a:t> </a:t>
            </a:r>
            <a:r>
              <a:rPr sz="3600" i="0" spc="-10" dirty="0">
                <a:latin typeface="+mj-lt"/>
                <a:cs typeface="Times New Roman"/>
              </a:rPr>
              <a:t>Methodology</a:t>
            </a:r>
            <a:endParaRPr sz="3600" dirty="0">
              <a:latin typeface="+mj-lt"/>
              <a:cs typeface="Times New Roman"/>
            </a:endParaRPr>
          </a:p>
        </p:txBody>
      </p:sp>
      <p:graphicFrame>
        <p:nvGraphicFramePr>
          <p:cNvPr id="11" name="Diagram 10">
            <a:extLst>
              <a:ext uri="{FF2B5EF4-FFF2-40B4-BE49-F238E27FC236}">
                <a16:creationId xmlns:a16="http://schemas.microsoft.com/office/drawing/2014/main" id="{80DD87F4-66D1-29D1-1D8F-5531FFE851FD}"/>
              </a:ext>
            </a:extLst>
          </p:cNvPr>
          <p:cNvGraphicFramePr/>
          <p:nvPr>
            <p:extLst>
              <p:ext uri="{D42A27DB-BD31-4B8C-83A1-F6EECF244321}">
                <p14:modId xmlns:p14="http://schemas.microsoft.com/office/powerpoint/2010/main" val="1754328334"/>
              </p:ext>
            </p:extLst>
          </p:nvPr>
        </p:nvGraphicFramePr>
        <p:xfrm>
          <a:off x="381000" y="1518971"/>
          <a:ext cx="11506200" cy="46060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Straight Connector 7">
            <a:extLst>
              <a:ext uri="{FF2B5EF4-FFF2-40B4-BE49-F238E27FC236}">
                <a16:creationId xmlns:a16="http://schemas.microsoft.com/office/drawing/2014/main" id="{82418FD7-CE24-B850-138D-9504432FF11C}"/>
              </a:ext>
            </a:extLst>
          </p:cNvPr>
          <p:cNvCxnSpPr>
            <a:cxnSpLocks/>
          </p:cNvCxnSpPr>
          <p:nvPr/>
        </p:nvCxnSpPr>
        <p:spPr>
          <a:xfrm>
            <a:off x="3124200" y="1295400"/>
            <a:ext cx="53340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B03DB8CB-4215-2283-AE0B-026283F36BA9}"/>
              </a:ext>
            </a:extLst>
          </p:cNvPr>
          <p:cNvGraphicFramePr/>
          <p:nvPr>
            <p:extLst>
              <p:ext uri="{D42A27DB-BD31-4B8C-83A1-F6EECF244321}">
                <p14:modId xmlns:p14="http://schemas.microsoft.com/office/powerpoint/2010/main" val="129233152"/>
              </p:ext>
            </p:extLst>
          </p:nvPr>
        </p:nvGraphicFramePr>
        <p:xfrm>
          <a:off x="419100" y="990600"/>
          <a:ext cx="113538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2187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146C-96FA-B507-E4AF-3A1C20F96F5E}"/>
              </a:ext>
            </a:extLst>
          </p:cNvPr>
          <p:cNvSpPr>
            <a:spLocks noGrp="1"/>
          </p:cNvSpPr>
          <p:nvPr>
            <p:ph type="title"/>
          </p:nvPr>
        </p:nvSpPr>
        <p:spPr>
          <a:xfrm>
            <a:off x="3276600" y="-27940"/>
            <a:ext cx="6781800" cy="423193"/>
          </a:xfrm>
        </p:spPr>
        <p:txBody>
          <a:bodyPr/>
          <a:lstStyle/>
          <a:p>
            <a:r>
              <a:rPr lang="en-IN" i="0" dirty="0">
                <a:latin typeface="+mj-lt"/>
              </a:rPr>
              <a:t>Existing System vs Proposed System</a:t>
            </a:r>
          </a:p>
        </p:txBody>
      </p:sp>
      <p:graphicFrame>
        <p:nvGraphicFramePr>
          <p:cNvPr id="10" name="Table 9">
            <a:extLst>
              <a:ext uri="{FF2B5EF4-FFF2-40B4-BE49-F238E27FC236}">
                <a16:creationId xmlns:a16="http://schemas.microsoft.com/office/drawing/2014/main" id="{5620086B-5429-7548-8497-EC793B974EEE}"/>
              </a:ext>
            </a:extLst>
          </p:cNvPr>
          <p:cNvGraphicFramePr>
            <a:graphicFrameLocks noGrp="1"/>
          </p:cNvGraphicFramePr>
          <p:nvPr>
            <p:extLst>
              <p:ext uri="{D42A27DB-BD31-4B8C-83A1-F6EECF244321}">
                <p14:modId xmlns:p14="http://schemas.microsoft.com/office/powerpoint/2010/main" val="1235578180"/>
              </p:ext>
            </p:extLst>
          </p:nvPr>
        </p:nvGraphicFramePr>
        <p:xfrm>
          <a:off x="0" y="533400"/>
          <a:ext cx="12192000" cy="6324600"/>
        </p:xfrm>
        <a:graphic>
          <a:graphicData uri="http://schemas.openxmlformats.org/drawingml/2006/table">
            <a:tbl>
              <a:tblPr/>
              <a:tblGrid>
                <a:gridCol w="2546430">
                  <a:extLst>
                    <a:ext uri="{9D8B030D-6E8A-4147-A177-3AD203B41FA5}">
                      <a16:colId xmlns:a16="http://schemas.microsoft.com/office/drawing/2014/main" val="1124777860"/>
                    </a:ext>
                  </a:extLst>
                </a:gridCol>
                <a:gridCol w="5607960">
                  <a:extLst>
                    <a:ext uri="{9D8B030D-6E8A-4147-A177-3AD203B41FA5}">
                      <a16:colId xmlns:a16="http://schemas.microsoft.com/office/drawing/2014/main" val="2826652814"/>
                    </a:ext>
                  </a:extLst>
                </a:gridCol>
                <a:gridCol w="4037610">
                  <a:extLst>
                    <a:ext uri="{9D8B030D-6E8A-4147-A177-3AD203B41FA5}">
                      <a16:colId xmlns:a16="http://schemas.microsoft.com/office/drawing/2014/main" val="1834842418"/>
                    </a:ext>
                  </a:extLst>
                </a:gridCol>
              </a:tblGrid>
              <a:tr h="306834">
                <a:tc>
                  <a:txBody>
                    <a:bodyPr/>
                    <a:lstStyle/>
                    <a:p>
                      <a:pPr>
                        <a:buNone/>
                      </a:pPr>
                      <a:r>
                        <a:rPr lang="en-IN" sz="1800" b="1" dirty="0"/>
                        <a:t>Criteria</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b="1" dirty="0"/>
                        <a:t>Existing System</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800" b="1" dirty="0"/>
                        <a:t>Proposed System</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3260542"/>
                  </a:ext>
                </a:extLst>
              </a:tr>
              <a:tr h="922280">
                <a:tc>
                  <a:txBody>
                    <a:bodyPr/>
                    <a:lstStyle/>
                    <a:p>
                      <a:pPr>
                        <a:buNone/>
                      </a:pPr>
                      <a:r>
                        <a:rPr lang="en-IN" sz="1800" b="1" dirty="0"/>
                        <a:t>Approach</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dirty="0"/>
                        <a:t>Uses individual machine learning algorithms such as KNN, Random Forest.</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1800" dirty="0"/>
                        <a:t>Integrates KNN and DBSCAN algorithms to form a hybrid model for better prediction accuracy and noise handling.</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155281649"/>
                  </a:ext>
                </a:extLst>
              </a:tr>
              <a:tr h="874734">
                <a:tc>
                  <a:txBody>
                    <a:bodyPr/>
                    <a:lstStyle/>
                    <a:p>
                      <a:pPr>
                        <a:buNone/>
                      </a:pPr>
                      <a:r>
                        <a:rPr lang="en-IN" sz="1800" b="1" dirty="0"/>
                        <a:t>Data Handling</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dirty="0"/>
                        <a:t>Sensitive to noise, outliers, and imbalanced datasets, leading to reduced model reliability.</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1800" dirty="0"/>
                        <a:t>DBSCAN removes noise and detects dense clusters, improving data quality before classification.</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330494343"/>
                  </a:ext>
                </a:extLst>
              </a:tr>
              <a:tr h="922280">
                <a:tc>
                  <a:txBody>
                    <a:bodyPr/>
                    <a:lstStyle/>
                    <a:p>
                      <a:pPr>
                        <a:buNone/>
                      </a:pPr>
                      <a:r>
                        <a:rPr lang="en-IN" sz="1800" b="1" dirty="0"/>
                        <a:t>Accuracy</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dirty="0"/>
                        <a:t>Moderate accuracy due to limitations of single models and lack of data preprocessing.</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1800" dirty="0"/>
                        <a:t>Achieves higher accuracy </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87228285"/>
                  </a:ext>
                </a:extLst>
              </a:tr>
              <a:tr h="631035">
                <a:tc>
                  <a:txBody>
                    <a:bodyPr/>
                    <a:lstStyle/>
                    <a:p>
                      <a:pPr>
                        <a:buNone/>
                      </a:pPr>
                      <a:r>
                        <a:rPr lang="en-IN" sz="1800" b="1" dirty="0"/>
                        <a:t>Model Type</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dirty="0"/>
                        <a:t>Single algorithm-based (supervised or unsupervised).</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1800" dirty="0"/>
                        <a:t>Hybrid model combining supervised (KNN) and unsupervised (DBSCAN) learning.</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792145008"/>
                  </a:ext>
                </a:extLst>
              </a:tr>
              <a:tr h="631035">
                <a:tc>
                  <a:txBody>
                    <a:bodyPr/>
                    <a:lstStyle/>
                    <a:p>
                      <a:pPr>
                        <a:buNone/>
                      </a:pPr>
                      <a:r>
                        <a:rPr lang="en-IN" sz="1800" b="1" dirty="0"/>
                        <a:t>Scalability</a:t>
                      </a: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dirty="0"/>
                        <a:t>Limited scalability and poor performance on large, heterogeneous datasets.</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sz="1800" dirty="0"/>
                        <a:t>Improved scalability with </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97384017"/>
                  </a:ext>
                </a:extLst>
              </a:tr>
              <a:tr h="1161668">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t>Real-Time Application</a:t>
                      </a:r>
                      <a:endParaRPr lang="en-IN" sz="1800" dirty="0"/>
                    </a:p>
                    <a:p>
                      <a:pPr>
                        <a:buNone/>
                      </a:pP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800" dirty="0"/>
                        <a:t>Struggles to handle real-time or dynamic data updates.</a:t>
                      </a:r>
                    </a:p>
                    <a:p>
                      <a:pPr>
                        <a:buNone/>
                      </a:pPr>
                      <a:endParaRPr lang="en-US"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800" dirty="0"/>
                        <a:t>Can be adapted for real-time prediction and alert systems using pre-clustered data.</a:t>
                      </a:r>
                    </a:p>
                    <a:p>
                      <a:pPr>
                        <a:buNone/>
                      </a:pPr>
                      <a:endParaRPr lang="en-US"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757639007"/>
                  </a:ext>
                </a:extLst>
              </a:tr>
              <a:tr h="874734">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b="1" dirty="0"/>
                        <a:t>Result</a:t>
                      </a:r>
                      <a:endParaRPr lang="en-IN" sz="1800" dirty="0"/>
                    </a:p>
                    <a:p>
                      <a:pPr>
                        <a:buNone/>
                      </a:pPr>
                      <a:endParaRPr lang="en-IN"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buNone/>
                      </a:pPr>
                      <a:r>
                        <a:rPr lang="en-US" sz="1800" dirty="0"/>
                        <a:t>Inconsistent and less reliable predictions</a:t>
                      </a:r>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buNone/>
                      </a:pPr>
                      <a:r>
                        <a:rPr lang="en-US" dirty="0"/>
                        <a:t>More consistent, accurate, and interpretable results that support safer urban mobility.</a:t>
                      </a:r>
                      <a:endParaRPr lang="en-US" sz="1800" dirty="0"/>
                    </a:p>
                  </a:txBody>
                  <a:tcPr marL="13317" marR="13317" marT="6659" marB="66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129653132"/>
                  </a:ext>
                </a:extLst>
              </a:tr>
            </a:tbl>
          </a:graphicData>
        </a:graphic>
      </p:graphicFrame>
    </p:spTree>
    <p:extLst>
      <p:ext uri="{BB962C8B-B14F-4D97-AF65-F5344CB8AC3E}">
        <p14:creationId xmlns:p14="http://schemas.microsoft.com/office/powerpoint/2010/main" val="1609217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714C57B5-8F1B-FCB2-A176-1CEA37EA4950}"/>
              </a:ext>
            </a:extLst>
          </p:cNvPr>
          <p:cNvGraphicFramePr/>
          <p:nvPr>
            <p:extLst>
              <p:ext uri="{D42A27DB-BD31-4B8C-83A1-F6EECF244321}">
                <p14:modId xmlns:p14="http://schemas.microsoft.com/office/powerpoint/2010/main" val="243163568"/>
              </p:ext>
            </p:extLst>
          </p:nvPr>
        </p:nvGraphicFramePr>
        <p:xfrm>
          <a:off x="381000" y="76200"/>
          <a:ext cx="11582400" cy="65342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727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895350"/>
            <a:ext cx="723900" cy="5067300"/>
          </a:xfrm>
          <a:custGeom>
            <a:avLst/>
            <a:gdLst/>
            <a:ahLst/>
            <a:cxnLst/>
            <a:rect l="l" t="t" r="r" b="b"/>
            <a:pathLst>
              <a:path w="723900" h="5067300">
                <a:moveTo>
                  <a:pt x="723900" y="0"/>
                </a:moveTo>
                <a:lnTo>
                  <a:pt x="0" y="0"/>
                </a:lnTo>
                <a:lnTo>
                  <a:pt x="0" y="5067300"/>
                </a:lnTo>
                <a:lnTo>
                  <a:pt x="723900" y="5067300"/>
                </a:lnTo>
                <a:lnTo>
                  <a:pt x="723900" y="0"/>
                </a:lnTo>
                <a:close/>
              </a:path>
            </a:pathLst>
          </a:custGeom>
          <a:solidFill>
            <a:srgbClr val="4B5253"/>
          </a:solidFill>
        </p:spPr>
        <p:txBody>
          <a:bodyPr wrap="square" lIns="0" tIns="0" rIns="0" bIns="0" rtlCol="0"/>
          <a:lstStyle/>
          <a:p>
            <a:endParaRPr/>
          </a:p>
        </p:txBody>
      </p:sp>
      <p:pic>
        <p:nvPicPr>
          <p:cNvPr id="3" name="object 3"/>
          <p:cNvPicPr/>
          <p:nvPr/>
        </p:nvPicPr>
        <p:blipFill>
          <a:blip r:embed="rId2" cstate="print"/>
          <a:stretch>
            <a:fillRect/>
          </a:stretch>
        </p:blipFill>
        <p:spPr>
          <a:xfrm>
            <a:off x="1600200" y="457200"/>
            <a:ext cx="9344025" cy="6219825"/>
          </a:xfrm>
          <a:prstGeom prst="rect">
            <a:avLst/>
          </a:prstGeom>
        </p:spPr>
      </p:pic>
      <p:sp>
        <p:nvSpPr>
          <p:cNvPr id="4" name="Rectangle: Top Corners Rounded 3">
            <a:extLst>
              <a:ext uri="{FF2B5EF4-FFF2-40B4-BE49-F238E27FC236}">
                <a16:creationId xmlns:a16="http://schemas.microsoft.com/office/drawing/2014/main" id="{4C6325EC-3384-6930-C0F9-2F7A1986503F}"/>
              </a:ext>
            </a:extLst>
          </p:cNvPr>
          <p:cNvSpPr/>
          <p:nvPr/>
        </p:nvSpPr>
        <p:spPr>
          <a:xfrm>
            <a:off x="2133600" y="990600"/>
            <a:ext cx="8077200" cy="76200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mj-lt"/>
              </a:rPr>
              <a:t>OUTCOMES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A19AB2-CEFE-B49A-65AE-5B4EF23C969F}"/>
              </a:ext>
            </a:extLst>
          </p:cNvPr>
          <p:cNvSpPr txBox="1"/>
          <p:nvPr/>
        </p:nvSpPr>
        <p:spPr>
          <a:xfrm>
            <a:off x="4191000" y="199902"/>
            <a:ext cx="2438400" cy="646331"/>
          </a:xfrm>
          <a:prstGeom prst="rect">
            <a:avLst/>
          </a:prstGeom>
          <a:noFill/>
        </p:spPr>
        <p:txBody>
          <a:bodyPr wrap="square" rtlCol="0">
            <a:spAutoFit/>
          </a:bodyPr>
          <a:lstStyle/>
          <a:p>
            <a:pPr algn="ctr"/>
            <a:r>
              <a:rPr lang="en-IN" sz="3600" dirty="0"/>
              <a:t>   </a:t>
            </a:r>
            <a:r>
              <a:rPr lang="en-IN" sz="3600" b="1" dirty="0"/>
              <a:t>RESULT</a:t>
            </a:r>
          </a:p>
        </p:txBody>
      </p:sp>
      <p:sp>
        <p:nvSpPr>
          <p:cNvPr id="3" name="TextBox 2">
            <a:extLst>
              <a:ext uri="{FF2B5EF4-FFF2-40B4-BE49-F238E27FC236}">
                <a16:creationId xmlns:a16="http://schemas.microsoft.com/office/drawing/2014/main" id="{B32B956E-563F-3DC7-0EA0-0DBE4EBC90B1}"/>
              </a:ext>
            </a:extLst>
          </p:cNvPr>
          <p:cNvSpPr txBox="1"/>
          <p:nvPr/>
        </p:nvSpPr>
        <p:spPr>
          <a:xfrm>
            <a:off x="12567870" y="372095"/>
            <a:ext cx="2404437" cy="5286497"/>
          </a:xfrm>
          <a:prstGeom prst="rect">
            <a:avLst/>
          </a:prstGeom>
          <a:noFill/>
        </p:spPr>
        <p:txBody>
          <a:bodyPr wrap="square" rtlCol="0">
            <a:spAutoFit/>
          </a:bodyPr>
          <a:lstStyle/>
          <a:p>
            <a:endParaRPr lang="en-IN" dirty="0"/>
          </a:p>
        </p:txBody>
      </p:sp>
      <p:pic>
        <p:nvPicPr>
          <p:cNvPr id="4" name="Picture 2">
            <a:extLst>
              <a:ext uri="{FF2B5EF4-FFF2-40B4-BE49-F238E27FC236}">
                <a16:creationId xmlns:a16="http://schemas.microsoft.com/office/drawing/2014/main" id="{A0666EA8-B288-F8DC-A226-BC88282A1C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382" y="3732921"/>
            <a:ext cx="4316542"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4CE6DAC-C45C-3CC7-5B1A-4716456EEE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3860489"/>
            <a:ext cx="5186515" cy="279286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F59E58C-18B1-B953-AE9F-CBB38DE0E3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4323" y="650635"/>
            <a:ext cx="4588477" cy="320985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B946385-34D4-B2DC-C2FB-4E5EB1A5A8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058" y="685801"/>
            <a:ext cx="4923865" cy="2808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601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8E8E8"/>
          </a:solidFill>
        </p:spPr>
        <p:txBody>
          <a:bodyPr wrap="square" lIns="0" tIns="0" rIns="0" bIns="0" rtlCol="0"/>
          <a:lstStyle/>
          <a:p>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4657725" y="0"/>
              <a:ext cx="7534275" cy="6857999"/>
            </a:xfrm>
            <a:prstGeom prst="rect">
              <a:avLst/>
            </a:prstGeom>
          </p:spPr>
        </p:pic>
        <p:sp>
          <p:nvSpPr>
            <p:cNvPr id="5" name="object 5"/>
            <p:cNvSpPr/>
            <p:nvPr/>
          </p:nvSpPr>
          <p:spPr>
            <a:xfrm>
              <a:off x="800099" y="809625"/>
              <a:ext cx="6734175" cy="4924425"/>
            </a:xfrm>
            <a:custGeom>
              <a:avLst/>
              <a:gdLst/>
              <a:ahLst/>
              <a:cxnLst/>
              <a:rect l="l" t="t" r="r" b="b"/>
              <a:pathLst>
                <a:path w="6734175" h="4924425">
                  <a:moveTo>
                    <a:pt x="6734175" y="0"/>
                  </a:moveTo>
                  <a:lnTo>
                    <a:pt x="0" y="0"/>
                  </a:lnTo>
                  <a:lnTo>
                    <a:pt x="0" y="4924425"/>
                  </a:lnTo>
                  <a:lnTo>
                    <a:pt x="6734175" y="4924425"/>
                  </a:lnTo>
                  <a:lnTo>
                    <a:pt x="6734175" y="0"/>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0" y="438150"/>
              <a:ext cx="7534274" cy="5410034"/>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9B0C4E-314A-21B7-0716-2AFA2EB0244A}"/>
              </a:ext>
            </a:extLst>
          </p:cNvPr>
          <p:cNvSpPr txBox="1"/>
          <p:nvPr/>
        </p:nvSpPr>
        <p:spPr>
          <a:xfrm>
            <a:off x="76200" y="1600200"/>
            <a:ext cx="12039600" cy="4278094"/>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latin typeface="+mn-lt"/>
              </a:rPr>
              <a:t>The hybrid KNN-DBSCAN model can predict how serious accidents might be by combining classification and clustering methods. Tests show it works better than using KNN or DBSCAN alone, handling noisy data well and giving accurate results on different traffic datasets. This method can help improve emergency response and manage resources more efficiently. Adding data from IoT sensors can make traffic safety even better. In the future, the model will be tested for real-time use, on larger datasets, and in different locations.</a:t>
            </a:r>
          </a:p>
          <a:p>
            <a:pPr algn="just"/>
            <a:endParaRPr lang="en-US" sz="2400" dirty="0">
              <a:latin typeface="+mn-lt"/>
            </a:endParaRPr>
          </a:p>
          <a:p>
            <a:pPr marL="342900" indent="-342900" algn="just">
              <a:buFont typeface="Wingdings" panose="05000000000000000000" pitchFamily="2" charset="2"/>
              <a:buChar char="q"/>
            </a:pPr>
            <a:r>
              <a:rPr lang="en-US" sz="2000" dirty="0"/>
              <a:t>In summary, this hybrid model doesn’t stop accidents directly, but it helps us </a:t>
            </a:r>
            <a:r>
              <a:rPr lang="en-US" sz="2000" b="1" dirty="0"/>
              <a:t>understand when and where accidents are more likely</a:t>
            </a:r>
            <a:r>
              <a:rPr lang="en-US" sz="2000" dirty="0"/>
              <a:t> to occur based on past patterns.</a:t>
            </a:r>
            <a:br>
              <a:rPr lang="en-US" sz="2000" dirty="0"/>
            </a:br>
            <a:r>
              <a:rPr lang="en-US" sz="2000" dirty="0"/>
              <a:t>This can be used to issue </a:t>
            </a:r>
            <a:r>
              <a:rPr lang="en-US" sz="2000" b="1" dirty="0"/>
              <a:t>travel safety warnings</a:t>
            </a:r>
            <a:r>
              <a:rPr lang="en-US" sz="2000" dirty="0"/>
              <a:t> and </a:t>
            </a:r>
            <a:r>
              <a:rPr lang="en-US" sz="2000" b="1" dirty="0"/>
              <a:t>improve road planning and policies</a:t>
            </a:r>
            <a:r>
              <a:rPr lang="en-US" sz="2000" dirty="0"/>
              <a:t>.</a:t>
            </a:r>
          </a:p>
          <a:p>
            <a:pPr marL="342900" indent="-342900" algn="just">
              <a:buFont typeface="Wingdings" panose="05000000000000000000" pitchFamily="2" charset="2"/>
              <a:buChar char="q"/>
            </a:pPr>
            <a:endParaRPr lang="en-US" sz="2000" dirty="0">
              <a:latin typeface="+mn-lt"/>
            </a:endParaRPr>
          </a:p>
          <a:p>
            <a:endParaRPr lang="en-IN" sz="2400" dirty="0">
              <a:latin typeface="+mn-lt"/>
            </a:endParaRPr>
          </a:p>
        </p:txBody>
      </p:sp>
      <p:sp>
        <p:nvSpPr>
          <p:cNvPr id="4" name="Rectangle: Top Corners Rounded 3">
            <a:extLst>
              <a:ext uri="{FF2B5EF4-FFF2-40B4-BE49-F238E27FC236}">
                <a16:creationId xmlns:a16="http://schemas.microsoft.com/office/drawing/2014/main" id="{44730921-F50C-BBB0-1F93-E3A196D93DF9}"/>
              </a:ext>
            </a:extLst>
          </p:cNvPr>
          <p:cNvSpPr/>
          <p:nvPr/>
        </p:nvSpPr>
        <p:spPr>
          <a:xfrm>
            <a:off x="0" y="609600"/>
            <a:ext cx="12192000" cy="762000"/>
          </a:xfrm>
          <a:prstGeom prst="round2Same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latin typeface="+mj-lt"/>
              </a:rPr>
              <a:t>CONCLUSION</a:t>
            </a:r>
          </a:p>
        </p:txBody>
      </p:sp>
      <p:cxnSp>
        <p:nvCxnSpPr>
          <p:cNvPr id="6" name="Straight Connector 5">
            <a:extLst>
              <a:ext uri="{FF2B5EF4-FFF2-40B4-BE49-F238E27FC236}">
                <a16:creationId xmlns:a16="http://schemas.microsoft.com/office/drawing/2014/main" id="{DB0B92B7-F172-2BD2-6D95-6558396604FF}"/>
              </a:ext>
            </a:extLst>
          </p:cNvPr>
          <p:cNvCxnSpPr/>
          <p:nvPr/>
        </p:nvCxnSpPr>
        <p:spPr>
          <a:xfrm>
            <a:off x="2438400" y="6172200"/>
            <a:ext cx="7086600" cy="0"/>
          </a:xfrm>
          <a:prstGeom prst="line">
            <a:avLst/>
          </a:prstGeom>
          <a:ln w="254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0153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pc="-10" dirty="0"/>
              <a:t>References</a:t>
            </a:r>
          </a:p>
        </p:txBody>
      </p:sp>
      <p:sp>
        <p:nvSpPr>
          <p:cNvPr id="3" name="object 3"/>
          <p:cNvSpPr txBox="1"/>
          <p:nvPr/>
        </p:nvSpPr>
        <p:spPr>
          <a:xfrm>
            <a:off x="75564" y="506094"/>
            <a:ext cx="11959590" cy="5104130"/>
          </a:xfrm>
          <a:prstGeom prst="rect">
            <a:avLst/>
          </a:prstGeom>
        </p:spPr>
        <p:txBody>
          <a:bodyPr vert="horz" wrap="square" lIns="0" tIns="49530" rIns="0" bIns="0" rtlCol="0">
            <a:spAutoFit/>
          </a:bodyPr>
          <a:lstStyle/>
          <a:p>
            <a:pPr marL="240029" marR="592455" indent="-227329">
              <a:lnSpc>
                <a:spcPct val="90000"/>
              </a:lnSpc>
              <a:spcBef>
                <a:spcPts val="390"/>
              </a:spcBef>
              <a:buFont typeface="Arial MT"/>
              <a:buChar char="•"/>
              <a:tabLst>
                <a:tab pos="241300" algn="l"/>
              </a:tabLst>
            </a:pPr>
            <a:r>
              <a:rPr sz="2400" dirty="0">
                <a:latin typeface="Times New Roman"/>
                <a:cs typeface="Times New Roman"/>
              </a:rPr>
              <a:t>Z.</a:t>
            </a:r>
            <a:r>
              <a:rPr sz="2400" spc="-114" dirty="0">
                <a:latin typeface="Times New Roman"/>
                <a:cs typeface="Times New Roman"/>
              </a:rPr>
              <a:t> </a:t>
            </a:r>
            <a:r>
              <a:rPr sz="2400" spc="-20" dirty="0">
                <a:latin typeface="Times New Roman"/>
                <a:cs typeface="Times New Roman"/>
              </a:rPr>
              <a:t>Wang</a:t>
            </a:r>
            <a:r>
              <a:rPr sz="2400" spc="-35" dirty="0">
                <a:latin typeface="Times New Roman"/>
                <a:cs typeface="Times New Roman"/>
              </a:rPr>
              <a:t> </a:t>
            </a:r>
            <a:r>
              <a:rPr sz="2400" dirty="0">
                <a:latin typeface="Times New Roman"/>
                <a:cs typeface="Times New Roman"/>
              </a:rPr>
              <a:t>et</a:t>
            </a:r>
            <a:r>
              <a:rPr sz="2400" spc="-40" dirty="0">
                <a:latin typeface="Times New Roman"/>
                <a:cs typeface="Times New Roman"/>
              </a:rPr>
              <a:t> </a:t>
            </a:r>
            <a:r>
              <a:rPr sz="2400" dirty="0">
                <a:latin typeface="Times New Roman"/>
                <a:cs typeface="Times New Roman"/>
              </a:rPr>
              <a:t>al.,</a:t>
            </a:r>
            <a:r>
              <a:rPr sz="2400" spc="-35" dirty="0">
                <a:latin typeface="Times New Roman"/>
                <a:cs typeface="Times New Roman"/>
              </a:rPr>
              <a:t> </a:t>
            </a:r>
            <a:r>
              <a:rPr sz="2400" dirty="0">
                <a:latin typeface="Times New Roman"/>
                <a:cs typeface="Times New Roman"/>
              </a:rPr>
              <a:t>“Assessing</a:t>
            </a:r>
            <a:r>
              <a:rPr sz="2400" spc="-40" dirty="0">
                <a:latin typeface="Times New Roman"/>
                <a:cs typeface="Times New Roman"/>
              </a:rPr>
              <a:t> </a:t>
            </a:r>
            <a:r>
              <a:rPr sz="2400" dirty="0">
                <a:latin typeface="Times New Roman"/>
                <a:cs typeface="Times New Roman"/>
              </a:rPr>
              <a:t>the</a:t>
            </a:r>
            <a:r>
              <a:rPr sz="2400" spc="-50" dirty="0">
                <a:latin typeface="Times New Roman"/>
                <a:cs typeface="Times New Roman"/>
              </a:rPr>
              <a:t> </a:t>
            </a:r>
            <a:r>
              <a:rPr sz="2400" dirty="0">
                <a:latin typeface="Times New Roman"/>
                <a:cs typeface="Times New Roman"/>
              </a:rPr>
              <a:t>Impact</a:t>
            </a:r>
            <a:r>
              <a:rPr sz="2400" spc="-40" dirty="0">
                <a:latin typeface="Times New Roman"/>
                <a:cs typeface="Times New Roman"/>
              </a:rPr>
              <a:t> </a:t>
            </a:r>
            <a:r>
              <a:rPr sz="2400" dirty="0">
                <a:latin typeface="Times New Roman"/>
                <a:cs typeface="Times New Roman"/>
              </a:rPr>
              <a:t>of</a:t>
            </a:r>
            <a:r>
              <a:rPr sz="2400" spc="-85" dirty="0">
                <a:latin typeface="Times New Roman"/>
                <a:cs typeface="Times New Roman"/>
              </a:rPr>
              <a:t> </a:t>
            </a:r>
            <a:r>
              <a:rPr sz="2400" dirty="0">
                <a:latin typeface="Times New Roman"/>
                <a:cs typeface="Times New Roman"/>
              </a:rPr>
              <a:t>Different</a:t>
            </a:r>
            <a:r>
              <a:rPr sz="2400" spc="-35" dirty="0">
                <a:latin typeface="Times New Roman"/>
                <a:cs typeface="Times New Roman"/>
              </a:rPr>
              <a:t> </a:t>
            </a:r>
            <a:r>
              <a:rPr sz="2400" dirty="0">
                <a:latin typeface="Times New Roman"/>
                <a:cs typeface="Times New Roman"/>
              </a:rPr>
              <a:t>Population</a:t>
            </a:r>
            <a:r>
              <a:rPr sz="2400" spc="-40" dirty="0">
                <a:latin typeface="Times New Roman"/>
                <a:cs typeface="Times New Roman"/>
              </a:rPr>
              <a:t> </a:t>
            </a:r>
            <a:r>
              <a:rPr sz="2400" dirty="0">
                <a:latin typeface="Times New Roman"/>
                <a:cs typeface="Times New Roman"/>
              </a:rPr>
              <a:t>Density</a:t>
            </a:r>
            <a:r>
              <a:rPr sz="2400" spc="-35" dirty="0">
                <a:latin typeface="Times New Roman"/>
                <a:cs typeface="Times New Roman"/>
              </a:rPr>
              <a:t> </a:t>
            </a:r>
            <a:r>
              <a:rPr sz="2400" dirty="0">
                <a:latin typeface="Times New Roman"/>
                <a:cs typeface="Times New Roman"/>
              </a:rPr>
              <a:t>Scenarios</a:t>
            </a:r>
            <a:r>
              <a:rPr sz="2400" spc="-70" dirty="0">
                <a:latin typeface="Times New Roman"/>
                <a:cs typeface="Times New Roman"/>
              </a:rPr>
              <a:t> </a:t>
            </a:r>
            <a:r>
              <a:rPr sz="2400" dirty="0">
                <a:latin typeface="Times New Roman"/>
                <a:cs typeface="Times New Roman"/>
              </a:rPr>
              <a:t>on</a:t>
            </a:r>
            <a:r>
              <a:rPr sz="2400" spc="-45" dirty="0">
                <a:latin typeface="Times New Roman"/>
                <a:cs typeface="Times New Roman"/>
              </a:rPr>
              <a:t> </a:t>
            </a:r>
            <a:r>
              <a:rPr sz="2400" spc="-20" dirty="0">
                <a:latin typeface="Times New Roman"/>
                <a:cs typeface="Times New Roman"/>
              </a:rPr>
              <a:t>Two- 	</a:t>
            </a:r>
            <a:r>
              <a:rPr sz="2400" dirty="0">
                <a:latin typeface="Times New Roman"/>
                <a:cs typeface="Times New Roman"/>
              </a:rPr>
              <a:t>Wheeler</a:t>
            </a:r>
            <a:r>
              <a:rPr sz="2400" spc="-204" dirty="0">
                <a:latin typeface="Times New Roman"/>
                <a:cs typeface="Times New Roman"/>
              </a:rPr>
              <a:t> </a:t>
            </a:r>
            <a:r>
              <a:rPr sz="2400" dirty="0">
                <a:latin typeface="Times New Roman"/>
                <a:cs typeface="Times New Roman"/>
              </a:rPr>
              <a:t>Accident</a:t>
            </a:r>
            <a:r>
              <a:rPr sz="2400" spc="-45" dirty="0">
                <a:latin typeface="Times New Roman"/>
                <a:cs typeface="Times New Roman"/>
              </a:rPr>
              <a:t> </a:t>
            </a:r>
            <a:r>
              <a:rPr sz="2400" dirty="0">
                <a:latin typeface="Times New Roman"/>
                <a:cs typeface="Times New Roman"/>
              </a:rPr>
              <a:t>Characteristics</a:t>
            </a:r>
            <a:r>
              <a:rPr sz="2400" spc="5" dirty="0">
                <a:latin typeface="Times New Roman"/>
                <a:cs typeface="Times New Roman"/>
              </a:rPr>
              <a:t> </a:t>
            </a:r>
            <a:r>
              <a:rPr sz="2400" dirty="0">
                <a:latin typeface="Times New Roman"/>
                <a:cs typeface="Times New Roman"/>
              </a:rPr>
              <a:t>at</a:t>
            </a:r>
            <a:r>
              <a:rPr sz="2400" spc="-30" dirty="0">
                <a:latin typeface="Times New Roman"/>
                <a:cs typeface="Times New Roman"/>
              </a:rPr>
              <a:t> </a:t>
            </a:r>
            <a:r>
              <a:rPr sz="2400" dirty="0">
                <a:latin typeface="Times New Roman"/>
                <a:cs typeface="Times New Roman"/>
              </a:rPr>
              <a:t>Intersections,”</a:t>
            </a:r>
            <a:r>
              <a:rPr sz="2400" spc="15" dirty="0">
                <a:latin typeface="Times New Roman"/>
                <a:cs typeface="Times New Roman"/>
              </a:rPr>
              <a:t> </a:t>
            </a:r>
            <a:r>
              <a:rPr sz="2400" i="1" dirty="0">
                <a:latin typeface="Times New Roman"/>
                <a:cs typeface="Times New Roman"/>
              </a:rPr>
              <a:t>Sustainability</a:t>
            </a:r>
            <a:r>
              <a:rPr sz="2400" dirty="0">
                <a:latin typeface="Times New Roman"/>
                <a:cs typeface="Times New Roman"/>
              </a:rPr>
              <a:t>,</a:t>
            </a:r>
            <a:r>
              <a:rPr sz="2400" spc="-30" dirty="0">
                <a:latin typeface="Times New Roman"/>
                <a:cs typeface="Times New Roman"/>
              </a:rPr>
              <a:t> </a:t>
            </a:r>
            <a:r>
              <a:rPr sz="2400" dirty="0">
                <a:latin typeface="Times New Roman"/>
                <a:cs typeface="Times New Roman"/>
              </a:rPr>
              <a:t>vol.</a:t>
            </a:r>
            <a:r>
              <a:rPr sz="2400" spc="-25" dirty="0">
                <a:latin typeface="Times New Roman"/>
                <a:cs typeface="Times New Roman"/>
              </a:rPr>
              <a:t> </a:t>
            </a:r>
            <a:r>
              <a:rPr sz="2400" dirty="0">
                <a:latin typeface="Times New Roman"/>
                <a:cs typeface="Times New Roman"/>
              </a:rPr>
              <a:t>16,</a:t>
            </a:r>
            <a:r>
              <a:rPr sz="2400" spc="-25" dirty="0">
                <a:latin typeface="Times New Roman"/>
                <a:cs typeface="Times New Roman"/>
              </a:rPr>
              <a:t> </a:t>
            </a:r>
            <a:r>
              <a:rPr sz="2400" dirty="0">
                <a:latin typeface="Times New Roman"/>
                <a:cs typeface="Times New Roman"/>
              </a:rPr>
              <a:t>no.</a:t>
            </a:r>
            <a:r>
              <a:rPr sz="2400" spc="-20" dirty="0">
                <a:latin typeface="Times New Roman"/>
                <a:cs typeface="Times New Roman"/>
              </a:rPr>
              <a:t> </a:t>
            </a:r>
            <a:r>
              <a:rPr sz="2400" dirty="0">
                <a:latin typeface="Times New Roman"/>
                <a:cs typeface="Times New Roman"/>
              </a:rPr>
              <a:t>5,</a:t>
            </a:r>
            <a:r>
              <a:rPr sz="2400" spc="-25" dirty="0">
                <a:latin typeface="Times New Roman"/>
                <a:cs typeface="Times New Roman"/>
              </a:rPr>
              <a:t> </a:t>
            </a:r>
            <a:r>
              <a:rPr sz="2400" dirty="0">
                <a:latin typeface="Times New Roman"/>
                <a:cs typeface="Times New Roman"/>
              </a:rPr>
              <a:t>2024.</a:t>
            </a:r>
            <a:r>
              <a:rPr sz="2400" spc="-65" dirty="0">
                <a:latin typeface="Times New Roman"/>
                <a:cs typeface="Times New Roman"/>
              </a:rPr>
              <a:t> </a:t>
            </a:r>
            <a:r>
              <a:rPr sz="2400" spc="-20" dirty="0">
                <a:latin typeface="Times New Roman"/>
                <a:cs typeface="Times New Roman"/>
              </a:rPr>
              <a:t>doi: 	</a:t>
            </a:r>
            <a:r>
              <a:rPr sz="2400" spc="-10" dirty="0">
                <a:latin typeface="Times New Roman"/>
                <a:cs typeface="Times New Roman"/>
              </a:rPr>
              <a:t>10.3390/su16051737</a:t>
            </a:r>
            <a:endParaRPr sz="2400">
              <a:latin typeface="Times New Roman"/>
              <a:cs typeface="Times New Roman"/>
            </a:endParaRPr>
          </a:p>
          <a:p>
            <a:pPr marL="240029" indent="-227329">
              <a:lnSpc>
                <a:spcPts val="2715"/>
              </a:lnSpc>
              <a:spcBef>
                <a:spcPts val="725"/>
              </a:spcBef>
              <a:buFont typeface="Arial MT"/>
              <a:buChar char="•"/>
              <a:tabLst>
                <a:tab pos="240029" algn="l"/>
              </a:tabLst>
            </a:pPr>
            <a:r>
              <a:rPr sz="2400" dirty="0">
                <a:latin typeface="Times New Roman"/>
                <a:cs typeface="Times New Roman"/>
              </a:rPr>
              <a:t>D.</a:t>
            </a:r>
            <a:r>
              <a:rPr sz="2400" spc="-20" dirty="0">
                <a:latin typeface="Times New Roman"/>
                <a:cs typeface="Times New Roman"/>
              </a:rPr>
              <a:t> </a:t>
            </a:r>
            <a:r>
              <a:rPr sz="2400" dirty="0">
                <a:latin typeface="Times New Roman"/>
                <a:cs typeface="Times New Roman"/>
              </a:rPr>
              <a:t>Xie</a:t>
            </a:r>
            <a:r>
              <a:rPr sz="2400" spc="-20" dirty="0">
                <a:latin typeface="Times New Roman"/>
                <a:cs typeface="Times New Roman"/>
              </a:rPr>
              <a:t> </a:t>
            </a:r>
            <a:r>
              <a:rPr sz="2400" dirty="0">
                <a:latin typeface="Times New Roman"/>
                <a:cs typeface="Times New Roman"/>
              </a:rPr>
              <a:t>et</a:t>
            </a:r>
            <a:r>
              <a:rPr sz="2400" spc="-75" dirty="0">
                <a:latin typeface="Times New Roman"/>
                <a:cs typeface="Times New Roman"/>
              </a:rPr>
              <a:t> </a:t>
            </a:r>
            <a:r>
              <a:rPr sz="2400" dirty="0">
                <a:latin typeface="Times New Roman"/>
                <a:cs typeface="Times New Roman"/>
              </a:rPr>
              <a:t>al.,</a:t>
            </a:r>
            <a:r>
              <a:rPr sz="2400" spc="-10" dirty="0">
                <a:latin typeface="Times New Roman"/>
                <a:cs typeface="Times New Roman"/>
              </a:rPr>
              <a:t> </a:t>
            </a:r>
            <a:r>
              <a:rPr sz="2400" dirty="0">
                <a:latin typeface="Times New Roman"/>
                <a:cs typeface="Times New Roman"/>
              </a:rPr>
              <a:t>“Research</a:t>
            </a:r>
            <a:r>
              <a:rPr sz="2400" spc="-10" dirty="0">
                <a:latin typeface="Times New Roman"/>
                <a:cs typeface="Times New Roman"/>
              </a:rPr>
              <a:t> </a:t>
            </a:r>
            <a:r>
              <a:rPr sz="2400" dirty="0">
                <a:latin typeface="Times New Roman"/>
                <a:cs typeface="Times New Roman"/>
              </a:rPr>
              <a:t>on</a:t>
            </a:r>
            <a:r>
              <a:rPr sz="2400" spc="-5" dirty="0">
                <a:latin typeface="Times New Roman"/>
                <a:cs typeface="Times New Roman"/>
              </a:rPr>
              <a:t> </a:t>
            </a:r>
            <a:r>
              <a:rPr sz="2400" dirty="0">
                <a:latin typeface="Times New Roman"/>
                <a:cs typeface="Times New Roman"/>
              </a:rPr>
              <a:t>Sequential</a:t>
            </a:r>
            <a:r>
              <a:rPr sz="2400" spc="-10" dirty="0">
                <a:latin typeface="Times New Roman"/>
                <a:cs typeface="Times New Roman"/>
              </a:rPr>
              <a:t> Decision-</a:t>
            </a:r>
            <a:r>
              <a:rPr sz="2400" dirty="0">
                <a:latin typeface="Times New Roman"/>
                <a:cs typeface="Times New Roman"/>
              </a:rPr>
              <a:t>Making</a:t>
            </a:r>
            <a:r>
              <a:rPr sz="2400" spc="-10" dirty="0">
                <a:latin typeface="Times New Roman"/>
                <a:cs typeface="Times New Roman"/>
              </a:rPr>
              <a:t> </a:t>
            </a:r>
            <a:r>
              <a:rPr sz="2400" dirty="0">
                <a:latin typeface="Times New Roman"/>
                <a:cs typeface="Times New Roman"/>
              </a:rPr>
              <a:t>of</a:t>
            </a:r>
            <a:r>
              <a:rPr sz="2400" spc="-50" dirty="0">
                <a:latin typeface="Times New Roman"/>
                <a:cs typeface="Times New Roman"/>
              </a:rPr>
              <a:t> </a:t>
            </a:r>
            <a:r>
              <a:rPr sz="2400" dirty="0">
                <a:latin typeface="Times New Roman"/>
                <a:cs typeface="Times New Roman"/>
              </a:rPr>
              <a:t>Major</a:t>
            </a:r>
            <a:r>
              <a:rPr sz="2400" spc="-135" dirty="0">
                <a:latin typeface="Times New Roman"/>
                <a:cs typeface="Times New Roman"/>
              </a:rPr>
              <a:t> </a:t>
            </a:r>
            <a:r>
              <a:rPr sz="2400" dirty="0">
                <a:latin typeface="Times New Roman"/>
                <a:cs typeface="Times New Roman"/>
              </a:rPr>
              <a:t>Accidents</a:t>
            </a:r>
            <a:r>
              <a:rPr sz="2400" spc="-40"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spc="-10" dirty="0">
                <a:latin typeface="Times New Roman"/>
                <a:cs typeface="Times New Roman"/>
              </a:rPr>
              <a:t>Incomplete</a:t>
            </a:r>
            <a:endParaRPr sz="2400">
              <a:latin typeface="Times New Roman"/>
              <a:cs typeface="Times New Roman"/>
            </a:endParaRPr>
          </a:p>
          <a:p>
            <a:pPr marL="241300">
              <a:lnSpc>
                <a:spcPts val="2715"/>
              </a:lnSpc>
            </a:pPr>
            <a:r>
              <a:rPr sz="2400" dirty="0">
                <a:latin typeface="Times New Roman"/>
                <a:cs typeface="Times New Roman"/>
              </a:rPr>
              <a:t>Information,”</a:t>
            </a:r>
            <a:r>
              <a:rPr sz="2400" spc="-65" dirty="0">
                <a:latin typeface="Times New Roman"/>
                <a:cs typeface="Times New Roman"/>
              </a:rPr>
              <a:t> </a:t>
            </a:r>
            <a:r>
              <a:rPr sz="2400" i="1" dirty="0">
                <a:latin typeface="Times New Roman"/>
                <a:cs typeface="Times New Roman"/>
              </a:rPr>
              <a:t>Entropy</a:t>
            </a:r>
            <a:r>
              <a:rPr sz="2400" dirty="0">
                <a:latin typeface="Times New Roman"/>
                <a:cs typeface="Times New Roman"/>
              </a:rPr>
              <a:t>,</a:t>
            </a:r>
            <a:r>
              <a:rPr sz="2400" spc="-45" dirty="0">
                <a:latin typeface="Times New Roman"/>
                <a:cs typeface="Times New Roman"/>
              </a:rPr>
              <a:t> </a:t>
            </a:r>
            <a:r>
              <a:rPr sz="2400" dirty="0">
                <a:latin typeface="Times New Roman"/>
                <a:cs typeface="Times New Roman"/>
              </a:rPr>
              <a:t>2024.</a:t>
            </a:r>
            <a:r>
              <a:rPr sz="2400" spc="-45" dirty="0">
                <a:latin typeface="Times New Roman"/>
                <a:cs typeface="Times New Roman"/>
              </a:rPr>
              <a:t> </a:t>
            </a:r>
            <a:r>
              <a:rPr sz="2400" dirty="0">
                <a:latin typeface="Times New Roman"/>
                <a:cs typeface="Times New Roman"/>
              </a:rPr>
              <a:t>doi:</a:t>
            </a:r>
            <a:r>
              <a:rPr sz="2400" spc="-40" dirty="0">
                <a:latin typeface="Times New Roman"/>
                <a:cs typeface="Times New Roman"/>
              </a:rPr>
              <a:t> </a:t>
            </a:r>
            <a:r>
              <a:rPr sz="2400" spc="-10" dirty="0">
                <a:latin typeface="Times New Roman"/>
                <a:cs typeface="Times New Roman"/>
              </a:rPr>
              <a:t>10.3390/e26020129</a:t>
            </a:r>
            <a:endParaRPr sz="2400">
              <a:latin typeface="Times New Roman"/>
              <a:cs typeface="Times New Roman"/>
            </a:endParaRPr>
          </a:p>
          <a:p>
            <a:pPr marL="240029" marR="151765" indent="-227329">
              <a:lnSpc>
                <a:spcPts val="2630"/>
              </a:lnSpc>
              <a:spcBef>
                <a:spcPts val="1019"/>
              </a:spcBef>
              <a:buFont typeface="Arial MT"/>
              <a:buChar char="•"/>
              <a:tabLst>
                <a:tab pos="241300" algn="l"/>
              </a:tabLst>
            </a:pPr>
            <a:r>
              <a:rPr sz="2400" dirty="0">
                <a:latin typeface="Times New Roman"/>
                <a:cs typeface="Times New Roman"/>
              </a:rPr>
              <a:t>M.</a:t>
            </a:r>
            <a:r>
              <a:rPr sz="2400" spc="-114" dirty="0">
                <a:latin typeface="Times New Roman"/>
                <a:cs typeface="Times New Roman"/>
              </a:rPr>
              <a:t> </a:t>
            </a:r>
            <a:r>
              <a:rPr sz="2400" dirty="0">
                <a:latin typeface="Times New Roman"/>
                <a:cs typeface="Times New Roman"/>
              </a:rPr>
              <a:t>Wu</a:t>
            </a:r>
            <a:r>
              <a:rPr sz="2400" spc="-40" dirty="0">
                <a:latin typeface="Times New Roman"/>
                <a:cs typeface="Times New Roman"/>
              </a:rPr>
              <a:t> </a:t>
            </a:r>
            <a:r>
              <a:rPr sz="2400" dirty="0">
                <a:latin typeface="Times New Roman"/>
                <a:cs typeface="Times New Roman"/>
              </a:rPr>
              <a:t>et</a:t>
            </a:r>
            <a:r>
              <a:rPr sz="2400" spc="-40" dirty="0">
                <a:latin typeface="Times New Roman"/>
                <a:cs typeface="Times New Roman"/>
              </a:rPr>
              <a:t> </a:t>
            </a:r>
            <a:r>
              <a:rPr sz="2400" dirty="0">
                <a:latin typeface="Times New Roman"/>
                <a:cs typeface="Times New Roman"/>
              </a:rPr>
              <a:t>al.,</a:t>
            </a:r>
            <a:r>
              <a:rPr sz="2400" spc="-45" dirty="0">
                <a:latin typeface="Times New Roman"/>
                <a:cs typeface="Times New Roman"/>
              </a:rPr>
              <a:t> </a:t>
            </a:r>
            <a:r>
              <a:rPr sz="2400" dirty="0">
                <a:latin typeface="Times New Roman"/>
                <a:cs typeface="Times New Roman"/>
              </a:rPr>
              <a:t>“Predictions of</a:t>
            </a:r>
            <a:r>
              <a:rPr sz="2400" spc="-90" dirty="0">
                <a:latin typeface="Times New Roman"/>
                <a:cs typeface="Times New Roman"/>
              </a:rPr>
              <a:t> </a:t>
            </a:r>
            <a:r>
              <a:rPr sz="2400" spc="-10" dirty="0">
                <a:latin typeface="Times New Roman"/>
                <a:cs typeface="Times New Roman"/>
              </a:rPr>
              <a:t>Traffic</a:t>
            </a:r>
            <a:r>
              <a:rPr sz="2400" spc="-50" dirty="0">
                <a:latin typeface="Times New Roman"/>
                <a:cs typeface="Times New Roman"/>
              </a:rPr>
              <a:t> </a:t>
            </a:r>
            <a:r>
              <a:rPr sz="2400" dirty="0">
                <a:latin typeface="Times New Roman"/>
                <a:cs typeface="Times New Roman"/>
              </a:rPr>
              <a:t>Incident</a:t>
            </a:r>
            <a:r>
              <a:rPr sz="2400" spc="-40" dirty="0">
                <a:latin typeface="Times New Roman"/>
                <a:cs typeface="Times New Roman"/>
              </a:rPr>
              <a:t> </a:t>
            </a:r>
            <a:r>
              <a:rPr sz="2400" dirty="0">
                <a:latin typeface="Times New Roman"/>
                <a:cs typeface="Times New Roman"/>
              </a:rPr>
              <a:t>Locations,”</a:t>
            </a:r>
            <a:r>
              <a:rPr sz="2400" spc="-20" dirty="0">
                <a:latin typeface="Times New Roman"/>
                <a:cs typeface="Times New Roman"/>
              </a:rPr>
              <a:t> </a:t>
            </a:r>
            <a:r>
              <a:rPr sz="2400" i="1" dirty="0">
                <a:latin typeface="Times New Roman"/>
                <a:cs typeface="Times New Roman"/>
              </a:rPr>
              <a:t>Journal</a:t>
            </a:r>
            <a:r>
              <a:rPr sz="2400" i="1" spc="-40" dirty="0">
                <a:latin typeface="Times New Roman"/>
                <a:cs typeface="Times New Roman"/>
              </a:rPr>
              <a:t> </a:t>
            </a:r>
            <a:r>
              <a:rPr sz="2400" i="1" dirty="0">
                <a:latin typeface="Times New Roman"/>
                <a:cs typeface="Times New Roman"/>
              </a:rPr>
              <a:t>of</a:t>
            </a:r>
            <a:r>
              <a:rPr sz="2400" i="1" spc="-100" dirty="0">
                <a:latin typeface="Times New Roman"/>
                <a:cs typeface="Times New Roman"/>
              </a:rPr>
              <a:t> </a:t>
            </a:r>
            <a:r>
              <a:rPr sz="2400" i="1" dirty="0">
                <a:latin typeface="Times New Roman"/>
                <a:cs typeface="Times New Roman"/>
              </a:rPr>
              <a:t>Advanced</a:t>
            </a:r>
            <a:r>
              <a:rPr sz="2400" i="1" spc="-40" dirty="0">
                <a:latin typeface="Times New Roman"/>
                <a:cs typeface="Times New Roman"/>
              </a:rPr>
              <a:t> </a:t>
            </a:r>
            <a:r>
              <a:rPr sz="2400" i="1" spc="-10" dirty="0">
                <a:latin typeface="Times New Roman"/>
                <a:cs typeface="Times New Roman"/>
              </a:rPr>
              <a:t>Transportation</a:t>
            </a:r>
            <a:r>
              <a:rPr sz="2400" spc="-10" dirty="0">
                <a:latin typeface="Times New Roman"/>
                <a:cs typeface="Times New Roman"/>
              </a:rPr>
              <a:t>, 	</a:t>
            </a:r>
            <a:r>
              <a:rPr sz="2400" dirty="0">
                <a:latin typeface="Times New Roman"/>
                <a:cs typeface="Times New Roman"/>
              </a:rPr>
              <a:t>vol. 58, no. 2, </a:t>
            </a:r>
            <a:r>
              <a:rPr sz="2400" spc="-10" dirty="0">
                <a:latin typeface="Times New Roman"/>
                <a:cs typeface="Times New Roman"/>
              </a:rPr>
              <a:t>2024.</a:t>
            </a:r>
            <a:endParaRPr sz="2400">
              <a:latin typeface="Times New Roman"/>
              <a:cs typeface="Times New Roman"/>
            </a:endParaRPr>
          </a:p>
          <a:p>
            <a:pPr marL="240029" indent="-227329">
              <a:lnSpc>
                <a:spcPts val="2715"/>
              </a:lnSpc>
              <a:spcBef>
                <a:spcPts val="680"/>
              </a:spcBef>
              <a:buFont typeface="Arial MT"/>
              <a:buChar char="•"/>
              <a:tabLst>
                <a:tab pos="240029" algn="l"/>
              </a:tabLst>
            </a:pPr>
            <a:r>
              <a:rPr sz="2400" dirty="0">
                <a:latin typeface="Times New Roman"/>
                <a:cs typeface="Times New Roman"/>
              </a:rPr>
              <a:t>L.</a:t>
            </a:r>
            <a:r>
              <a:rPr sz="2400" spc="-155" dirty="0">
                <a:latin typeface="Times New Roman"/>
                <a:cs typeface="Times New Roman"/>
              </a:rPr>
              <a:t> </a:t>
            </a:r>
            <a:r>
              <a:rPr sz="2400" spc="-50" dirty="0">
                <a:latin typeface="Times New Roman"/>
                <a:cs typeface="Times New Roman"/>
              </a:rPr>
              <a:t>Yang</a:t>
            </a:r>
            <a:r>
              <a:rPr sz="2400" spc="-60" dirty="0">
                <a:latin typeface="Times New Roman"/>
                <a:cs typeface="Times New Roman"/>
              </a:rPr>
              <a:t> </a:t>
            </a:r>
            <a:r>
              <a:rPr sz="2400" dirty="0">
                <a:latin typeface="Times New Roman"/>
                <a:cs typeface="Times New Roman"/>
              </a:rPr>
              <a:t>et</a:t>
            </a:r>
            <a:r>
              <a:rPr sz="2400" spc="-100" dirty="0">
                <a:latin typeface="Times New Roman"/>
                <a:cs typeface="Times New Roman"/>
              </a:rPr>
              <a:t> </a:t>
            </a:r>
            <a:r>
              <a:rPr sz="2400" dirty="0">
                <a:latin typeface="Times New Roman"/>
                <a:cs typeface="Times New Roman"/>
              </a:rPr>
              <a:t>al.,</a:t>
            </a:r>
            <a:r>
              <a:rPr sz="2400" spc="-35" dirty="0">
                <a:latin typeface="Times New Roman"/>
                <a:cs typeface="Times New Roman"/>
              </a:rPr>
              <a:t> </a:t>
            </a:r>
            <a:r>
              <a:rPr sz="2400" dirty="0">
                <a:latin typeface="Times New Roman"/>
                <a:cs typeface="Times New Roman"/>
              </a:rPr>
              <a:t>“Comparative</a:t>
            </a:r>
            <a:r>
              <a:rPr sz="2400" spc="-125" dirty="0">
                <a:latin typeface="Times New Roman"/>
                <a:cs typeface="Times New Roman"/>
              </a:rPr>
              <a:t> </a:t>
            </a:r>
            <a:r>
              <a:rPr sz="2400" dirty="0">
                <a:latin typeface="Times New Roman"/>
                <a:cs typeface="Times New Roman"/>
              </a:rPr>
              <a:t>Analysis of</a:t>
            </a:r>
            <a:r>
              <a:rPr sz="2400" spc="-15" dirty="0">
                <a:latin typeface="Times New Roman"/>
                <a:cs typeface="Times New Roman"/>
              </a:rPr>
              <a:t> </a:t>
            </a:r>
            <a:r>
              <a:rPr sz="2400" dirty="0">
                <a:latin typeface="Times New Roman"/>
                <a:cs typeface="Times New Roman"/>
              </a:rPr>
              <a:t>KNN,</a:t>
            </a:r>
            <a:r>
              <a:rPr sz="2400" spc="-35" dirty="0">
                <a:latin typeface="Times New Roman"/>
                <a:cs typeface="Times New Roman"/>
              </a:rPr>
              <a:t> </a:t>
            </a:r>
            <a:r>
              <a:rPr sz="2400" dirty="0">
                <a:latin typeface="Times New Roman"/>
                <a:cs typeface="Times New Roman"/>
              </a:rPr>
              <a:t>SVM,</a:t>
            </a:r>
            <a:r>
              <a:rPr sz="2400" spc="-30" dirty="0">
                <a:latin typeface="Times New Roman"/>
                <a:cs typeface="Times New Roman"/>
              </a:rPr>
              <a:t> </a:t>
            </a:r>
            <a:r>
              <a:rPr sz="2400" dirty="0">
                <a:latin typeface="Times New Roman"/>
                <a:cs typeface="Times New Roman"/>
              </a:rPr>
              <a:t>and</a:t>
            </a:r>
            <a:r>
              <a:rPr sz="2400" spc="-35" dirty="0">
                <a:latin typeface="Times New Roman"/>
                <a:cs typeface="Times New Roman"/>
              </a:rPr>
              <a:t> </a:t>
            </a:r>
            <a:r>
              <a:rPr sz="2400" dirty="0">
                <a:latin typeface="Times New Roman"/>
                <a:cs typeface="Times New Roman"/>
              </a:rPr>
              <a:t>Ensemble</a:t>
            </a:r>
            <a:r>
              <a:rPr sz="2400" spc="-45" dirty="0">
                <a:latin typeface="Times New Roman"/>
                <a:cs typeface="Times New Roman"/>
              </a:rPr>
              <a:t> </a:t>
            </a:r>
            <a:r>
              <a:rPr sz="2400" dirty="0">
                <a:latin typeface="Times New Roman"/>
                <a:cs typeface="Times New Roman"/>
              </a:rPr>
              <a:t>DT</a:t>
            </a:r>
            <a:r>
              <a:rPr sz="2400" spc="-75" dirty="0">
                <a:latin typeface="Times New Roman"/>
                <a:cs typeface="Times New Roman"/>
              </a:rPr>
              <a:t> </a:t>
            </a:r>
            <a:r>
              <a:rPr sz="2400" dirty="0">
                <a:latin typeface="Times New Roman"/>
                <a:cs typeface="Times New Roman"/>
              </a:rPr>
              <a:t>Models,”</a:t>
            </a:r>
            <a:r>
              <a:rPr sz="2400" spc="5" dirty="0">
                <a:latin typeface="Times New Roman"/>
                <a:cs typeface="Times New Roman"/>
              </a:rPr>
              <a:t> </a:t>
            </a:r>
            <a:r>
              <a:rPr sz="2400" i="1" dirty="0">
                <a:latin typeface="Times New Roman"/>
                <a:cs typeface="Times New Roman"/>
              </a:rPr>
              <a:t>Journal</a:t>
            </a:r>
            <a:r>
              <a:rPr sz="2400" i="1" spc="-30" dirty="0">
                <a:latin typeface="Times New Roman"/>
                <a:cs typeface="Times New Roman"/>
              </a:rPr>
              <a:t> </a:t>
            </a:r>
            <a:r>
              <a:rPr sz="2400" i="1" spc="-25" dirty="0">
                <a:latin typeface="Times New Roman"/>
                <a:cs typeface="Times New Roman"/>
              </a:rPr>
              <a:t>of</a:t>
            </a:r>
            <a:endParaRPr sz="2400">
              <a:latin typeface="Times New Roman"/>
              <a:cs typeface="Times New Roman"/>
            </a:endParaRPr>
          </a:p>
          <a:p>
            <a:pPr marL="241300">
              <a:lnSpc>
                <a:spcPts val="2715"/>
              </a:lnSpc>
            </a:pPr>
            <a:r>
              <a:rPr sz="2400" i="1" dirty="0">
                <a:latin typeface="Times New Roman"/>
                <a:cs typeface="Times New Roman"/>
              </a:rPr>
              <a:t>Advanced</a:t>
            </a:r>
            <a:r>
              <a:rPr sz="2400" i="1" spc="-40" dirty="0">
                <a:latin typeface="Times New Roman"/>
                <a:cs typeface="Times New Roman"/>
              </a:rPr>
              <a:t> </a:t>
            </a:r>
            <a:r>
              <a:rPr sz="2400" i="1" spc="-10" dirty="0">
                <a:latin typeface="Times New Roman"/>
                <a:cs typeface="Times New Roman"/>
              </a:rPr>
              <a:t>Transportation</a:t>
            </a:r>
            <a:r>
              <a:rPr sz="2400" spc="-10" dirty="0">
                <a:latin typeface="Times New Roman"/>
                <a:cs typeface="Times New Roman"/>
              </a:rPr>
              <a:t>,</a:t>
            </a:r>
            <a:r>
              <a:rPr sz="2400" spc="-40" dirty="0">
                <a:latin typeface="Times New Roman"/>
                <a:cs typeface="Times New Roman"/>
              </a:rPr>
              <a:t> </a:t>
            </a:r>
            <a:r>
              <a:rPr sz="2400" spc="-10" dirty="0">
                <a:latin typeface="Times New Roman"/>
                <a:cs typeface="Times New Roman"/>
              </a:rPr>
              <a:t>2024.</a:t>
            </a:r>
            <a:endParaRPr sz="2400">
              <a:latin typeface="Times New Roman"/>
              <a:cs typeface="Times New Roman"/>
            </a:endParaRPr>
          </a:p>
          <a:p>
            <a:pPr marL="240029" indent="-227329">
              <a:lnSpc>
                <a:spcPts val="2755"/>
              </a:lnSpc>
              <a:spcBef>
                <a:spcPts val="725"/>
              </a:spcBef>
              <a:buFont typeface="Arial MT"/>
              <a:buChar char="•"/>
              <a:tabLst>
                <a:tab pos="240029" algn="l"/>
              </a:tabLst>
            </a:pPr>
            <a:r>
              <a:rPr sz="2400" dirty="0">
                <a:latin typeface="Times New Roman"/>
                <a:cs typeface="Times New Roman"/>
              </a:rPr>
              <a:t>J.</a:t>
            </a:r>
            <a:r>
              <a:rPr sz="2400" spc="-45" dirty="0">
                <a:latin typeface="Times New Roman"/>
                <a:cs typeface="Times New Roman"/>
              </a:rPr>
              <a:t> </a:t>
            </a:r>
            <a:r>
              <a:rPr sz="2400" dirty="0">
                <a:latin typeface="Times New Roman"/>
                <a:cs typeface="Times New Roman"/>
              </a:rPr>
              <a:t>M.</a:t>
            </a:r>
            <a:r>
              <a:rPr sz="2400" spc="-15" dirty="0">
                <a:latin typeface="Times New Roman"/>
                <a:cs typeface="Times New Roman"/>
              </a:rPr>
              <a:t> </a:t>
            </a:r>
            <a:r>
              <a:rPr sz="2400" dirty="0">
                <a:latin typeface="Times New Roman"/>
                <a:cs typeface="Times New Roman"/>
              </a:rPr>
              <a:t>Seong</a:t>
            </a:r>
            <a:r>
              <a:rPr sz="2400" spc="-25" dirty="0">
                <a:latin typeface="Times New Roman"/>
                <a:cs typeface="Times New Roman"/>
              </a:rPr>
              <a:t> </a:t>
            </a:r>
            <a:r>
              <a:rPr sz="2400" dirty="0">
                <a:latin typeface="Times New Roman"/>
                <a:cs typeface="Times New Roman"/>
              </a:rPr>
              <a:t>et</a:t>
            </a:r>
            <a:r>
              <a:rPr sz="2400" spc="-20" dirty="0">
                <a:latin typeface="Times New Roman"/>
                <a:cs typeface="Times New Roman"/>
              </a:rPr>
              <a:t> </a:t>
            </a:r>
            <a:r>
              <a:rPr sz="2400" dirty="0">
                <a:latin typeface="Times New Roman"/>
                <a:cs typeface="Times New Roman"/>
              </a:rPr>
              <a:t>al.,</a:t>
            </a:r>
            <a:r>
              <a:rPr sz="2400" spc="-15" dirty="0">
                <a:latin typeface="Times New Roman"/>
                <a:cs typeface="Times New Roman"/>
              </a:rPr>
              <a:t> </a:t>
            </a:r>
            <a:r>
              <a:rPr sz="2400" dirty="0">
                <a:latin typeface="Times New Roman"/>
                <a:cs typeface="Times New Roman"/>
              </a:rPr>
              <a:t>“Big</a:t>
            </a:r>
            <a:r>
              <a:rPr sz="2400" spc="-15" dirty="0">
                <a:latin typeface="Times New Roman"/>
                <a:cs typeface="Times New Roman"/>
              </a:rPr>
              <a:t> </a:t>
            </a:r>
            <a:r>
              <a:rPr sz="2400" dirty="0">
                <a:latin typeface="Times New Roman"/>
                <a:cs typeface="Times New Roman"/>
              </a:rPr>
              <a:t>Data</a:t>
            </a:r>
            <a:r>
              <a:rPr sz="2400" spc="-165" dirty="0">
                <a:latin typeface="Times New Roman"/>
                <a:cs typeface="Times New Roman"/>
              </a:rPr>
              <a:t> </a:t>
            </a:r>
            <a:r>
              <a:rPr sz="2400" dirty="0">
                <a:latin typeface="Times New Roman"/>
                <a:cs typeface="Times New Roman"/>
              </a:rPr>
              <a:t>Analytics</a:t>
            </a:r>
            <a:r>
              <a:rPr sz="2400" spc="-55" dirty="0">
                <a:latin typeface="Times New Roman"/>
                <a:cs typeface="Times New Roman"/>
              </a:rPr>
              <a:t> </a:t>
            </a:r>
            <a:r>
              <a:rPr sz="2400" dirty="0">
                <a:latin typeface="Times New Roman"/>
                <a:cs typeface="Times New Roman"/>
              </a:rPr>
              <a:t>with</a:t>
            </a:r>
            <a:r>
              <a:rPr sz="2400" spc="-20" dirty="0">
                <a:latin typeface="Times New Roman"/>
                <a:cs typeface="Times New Roman"/>
              </a:rPr>
              <a:t> </a:t>
            </a:r>
            <a:r>
              <a:rPr sz="2400" spc="-10" dirty="0">
                <a:latin typeface="Times New Roman"/>
                <a:cs typeface="Times New Roman"/>
              </a:rPr>
              <a:t>Multivariate</a:t>
            </a:r>
            <a:r>
              <a:rPr sz="2400" spc="-165" dirty="0">
                <a:latin typeface="Times New Roman"/>
                <a:cs typeface="Times New Roman"/>
              </a:rPr>
              <a:t> </a:t>
            </a:r>
            <a:r>
              <a:rPr sz="2400" dirty="0">
                <a:latin typeface="Times New Roman"/>
                <a:cs typeface="Times New Roman"/>
              </a:rPr>
              <a:t>Adaptive</a:t>
            </a:r>
            <a:r>
              <a:rPr sz="2400" spc="-30" dirty="0">
                <a:latin typeface="Times New Roman"/>
                <a:cs typeface="Times New Roman"/>
              </a:rPr>
              <a:t> </a:t>
            </a:r>
            <a:r>
              <a:rPr sz="2400" dirty="0">
                <a:latin typeface="Times New Roman"/>
                <a:cs typeface="Times New Roman"/>
              </a:rPr>
              <a:t>Regression</a:t>
            </a:r>
            <a:r>
              <a:rPr sz="2400" spc="-15" dirty="0">
                <a:latin typeface="Times New Roman"/>
                <a:cs typeface="Times New Roman"/>
              </a:rPr>
              <a:t> </a:t>
            </a:r>
            <a:r>
              <a:rPr sz="2400" dirty="0">
                <a:latin typeface="Times New Roman"/>
                <a:cs typeface="Times New Roman"/>
              </a:rPr>
              <a:t>Splines,”</a:t>
            </a:r>
            <a:r>
              <a:rPr sz="2400" spc="40" dirty="0">
                <a:latin typeface="Times New Roman"/>
                <a:cs typeface="Times New Roman"/>
              </a:rPr>
              <a:t> </a:t>
            </a:r>
            <a:r>
              <a:rPr sz="2400" i="1" spc="-10" dirty="0">
                <a:latin typeface="Times New Roman"/>
                <a:cs typeface="Times New Roman"/>
              </a:rPr>
              <a:t>BDCC</a:t>
            </a:r>
            <a:r>
              <a:rPr sz="2400" spc="-10" dirty="0">
                <a:latin typeface="Times New Roman"/>
                <a:cs typeface="Times New Roman"/>
              </a:rPr>
              <a:t>,</a:t>
            </a:r>
            <a:endParaRPr sz="2400">
              <a:latin typeface="Times New Roman"/>
              <a:cs typeface="Times New Roman"/>
            </a:endParaRPr>
          </a:p>
          <a:p>
            <a:pPr marL="241300">
              <a:lnSpc>
                <a:spcPts val="2755"/>
              </a:lnSpc>
            </a:pPr>
            <a:r>
              <a:rPr sz="2400" dirty="0">
                <a:latin typeface="Times New Roman"/>
                <a:cs typeface="Times New Roman"/>
              </a:rPr>
              <a:t>vol. 7, no. 3, </a:t>
            </a:r>
            <a:r>
              <a:rPr sz="2400" spc="-10" dirty="0">
                <a:latin typeface="Times New Roman"/>
                <a:cs typeface="Times New Roman"/>
              </a:rPr>
              <a:t>2023.</a:t>
            </a:r>
            <a:endParaRPr sz="2400">
              <a:latin typeface="Times New Roman"/>
              <a:cs typeface="Times New Roman"/>
            </a:endParaRPr>
          </a:p>
          <a:p>
            <a:pPr marL="240029" indent="-227329">
              <a:lnSpc>
                <a:spcPct val="100000"/>
              </a:lnSpc>
              <a:spcBef>
                <a:spcPts val="725"/>
              </a:spcBef>
              <a:buFont typeface="Arial MT"/>
              <a:buChar char="•"/>
              <a:tabLst>
                <a:tab pos="240029" algn="l"/>
              </a:tabLst>
            </a:pPr>
            <a:r>
              <a:rPr sz="2400" dirty="0">
                <a:latin typeface="Times New Roman"/>
                <a:cs typeface="Times New Roman"/>
              </a:rPr>
              <a:t>M.</a:t>
            </a:r>
            <a:r>
              <a:rPr sz="2400" spc="-5" dirty="0">
                <a:latin typeface="Times New Roman"/>
                <a:cs typeface="Times New Roman"/>
              </a:rPr>
              <a:t> </a:t>
            </a:r>
            <a:r>
              <a:rPr sz="2400" dirty="0">
                <a:latin typeface="Times New Roman"/>
                <a:cs typeface="Times New Roman"/>
              </a:rPr>
              <a:t>Ghorbani</a:t>
            </a:r>
            <a:r>
              <a:rPr sz="2400" spc="-70" dirty="0">
                <a:latin typeface="Times New Roman"/>
                <a:cs typeface="Times New Roman"/>
              </a:rPr>
              <a:t> </a:t>
            </a:r>
            <a:r>
              <a:rPr sz="2400" dirty="0">
                <a:latin typeface="Times New Roman"/>
                <a:cs typeface="Times New Roman"/>
              </a:rPr>
              <a:t>et</a:t>
            </a:r>
            <a:r>
              <a:rPr sz="2400" spc="-70" dirty="0">
                <a:latin typeface="Times New Roman"/>
                <a:cs typeface="Times New Roman"/>
              </a:rPr>
              <a:t> </a:t>
            </a:r>
            <a:r>
              <a:rPr sz="2400" dirty="0">
                <a:latin typeface="Times New Roman"/>
                <a:cs typeface="Times New Roman"/>
              </a:rPr>
              <a:t>al., “Crash Prediction Modeling,”</a:t>
            </a:r>
            <a:r>
              <a:rPr sz="2400" spc="30" dirty="0">
                <a:latin typeface="Times New Roman"/>
                <a:cs typeface="Times New Roman"/>
              </a:rPr>
              <a:t> </a:t>
            </a:r>
            <a:r>
              <a:rPr sz="2400" i="1" dirty="0">
                <a:latin typeface="Times New Roman"/>
                <a:cs typeface="Times New Roman"/>
              </a:rPr>
              <a:t>ASCE</a:t>
            </a:r>
            <a:r>
              <a:rPr sz="2400" i="1" spc="-45" dirty="0">
                <a:latin typeface="Times New Roman"/>
                <a:cs typeface="Times New Roman"/>
              </a:rPr>
              <a:t> </a:t>
            </a:r>
            <a:r>
              <a:rPr sz="2400" i="1" dirty="0">
                <a:latin typeface="Times New Roman"/>
                <a:cs typeface="Times New Roman"/>
              </a:rPr>
              <a:t>J. of</a:t>
            </a:r>
            <a:r>
              <a:rPr sz="2400" i="1" spc="-70" dirty="0">
                <a:latin typeface="Times New Roman"/>
                <a:cs typeface="Times New Roman"/>
              </a:rPr>
              <a:t> </a:t>
            </a:r>
            <a:r>
              <a:rPr sz="2400" i="1" dirty="0">
                <a:latin typeface="Times New Roman"/>
                <a:cs typeface="Times New Roman"/>
              </a:rPr>
              <a:t>Eng.</a:t>
            </a:r>
            <a:r>
              <a:rPr sz="2400" dirty="0">
                <a:latin typeface="Times New Roman"/>
                <a:cs typeface="Times New Roman"/>
              </a:rPr>
              <a:t>,</a:t>
            </a:r>
            <a:r>
              <a:rPr sz="2400" spc="-5" dirty="0">
                <a:latin typeface="Times New Roman"/>
                <a:cs typeface="Times New Roman"/>
              </a:rPr>
              <a:t> </a:t>
            </a:r>
            <a:r>
              <a:rPr sz="2400" spc="-10" dirty="0">
                <a:latin typeface="Times New Roman"/>
                <a:cs typeface="Times New Roman"/>
              </a:rPr>
              <a:t>2023.</a:t>
            </a:r>
            <a:endParaRPr sz="2400">
              <a:latin typeface="Times New Roman"/>
              <a:cs typeface="Times New Roman"/>
            </a:endParaRPr>
          </a:p>
          <a:p>
            <a:pPr marL="240029" indent="-227329">
              <a:lnSpc>
                <a:spcPct val="100000"/>
              </a:lnSpc>
              <a:spcBef>
                <a:spcPts val="650"/>
              </a:spcBef>
              <a:buFont typeface="Arial MT"/>
              <a:buChar char="•"/>
              <a:tabLst>
                <a:tab pos="240029" algn="l"/>
              </a:tabLst>
            </a:pPr>
            <a:r>
              <a:rPr sz="2400" dirty="0">
                <a:latin typeface="Times New Roman"/>
                <a:cs typeface="Times New Roman"/>
              </a:rPr>
              <a:t>A.</a:t>
            </a:r>
            <a:r>
              <a:rPr sz="2400" spc="-80" dirty="0">
                <a:latin typeface="Times New Roman"/>
                <a:cs typeface="Times New Roman"/>
              </a:rPr>
              <a:t> </a:t>
            </a:r>
            <a:r>
              <a:rPr sz="2400" dirty="0">
                <a:latin typeface="Times New Roman"/>
                <a:cs typeface="Times New Roman"/>
              </a:rPr>
              <a:t>Santhosh</a:t>
            </a:r>
            <a:r>
              <a:rPr sz="2400" spc="-35" dirty="0">
                <a:latin typeface="Times New Roman"/>
                <a:cs typeface="Times New Roman"/>
              </a:rPr>
              <a:t> </a:t>
            </a:r>
            <a:r>
              <a:rPr sz="2400" dirty="0">
                <a:latin typeface="Times New Roman"/>
                <a:cs typeface="Times New Roman"/>
              </a:rPr>
              <a:t>et</a:t>
            </a:r>
            <a:r>
              <a:rPr sz="2400" spc="-40" dirty="0">
                <a:latin typeface="Times New Roman"/>
                <a:cs typeface="Times New Roman"/>
              </a:rPr>
              <a:t> </a:t>
            </a:r>
            <a:r>
              <a:rPr sz="2400" dirty="0">
                <a:latin typeface="Times New Roman"/>
                <a:cs typeface="Times New Roman"/>
              </a:rPr>
              <a:t>al.,</a:t>
            </a:r>
            <a:r>
              <a:rPr sz="2400" spc="-40" dirty="0">
                <a:latin typeface="Times New Roman"/>
                <a:cs typeface="Times New Roman"/>
              </a:rPr>
              <a:t> </a:t>
            </a:r>
            <a:r>
              <a:rPr sz="2400" spc="-10" dirty="0">
                <a:latin typeface="Times New Roman"/>
                <a:cs typeface="Times New Roman"/>
              </a:rPr>
              <a:t>“Pedestrian</a:t>
            </a:r>
            <a:r>
              <a:rPr sz="2400" spc="-155" dirty="0">
                <a:latin typeface="Times New Roman"/>
                <a:cs typeface="Times New Roman"/>
              </a:rPr>
              <a:t> </a:t>
            </a:r>
            <a:r>
              <a:rPr sz="2400" dirty="0">
                <a:latin typeface="Times New Roman"/>
                <a:cs typeface="Times New Roman"/>
              </a:rPr>
              <a:t>Accident</a:t>
            </a:r>
            <a:r>
              <a:rPr sz="2400" spc="-100" dirty="0">
                <a:latin typeface="Times New Roman"/>
                <a:cs typeface="Times New Roman"/>
              </a:rPr>
              <a:t> </a:t>
            </a:r>
            <a:r>
              <a:rPr sz="2400" dirty="0">
                <a:latin typeface="Times New Roman"/>
                <a:cs typeface="Times New Roman"/>
              </a:rPr>
              <a:t>Prediction</a:t>
            </a:r>
            <a:r>
              <a:rPr sz="2400" spc="-40" dirty="0">
                <a:latin typeface="Times New Roman"/>
                <a:cs typeface="Times New Roman"/>
              </a:rPr>
              <a:t> </a:t>
            </a:r>
            <a:r>
              <a:rPr sz="2400" dirty="0">
                <a:latin typeface="Times New Roman"/>
                <a:cs typeface="Times New Roman"/>
              </a:rPr>
              <a:t>Modelling,”</a:t>
            </a:r>
            <a:r>
              <a:rPr sz="2400" spc="10" dirty="0">
                <a:latin typeface="Times New Roman"/>
                <a:cs typeface="Times New Roman"/>
              </a:rPr>
              <a:t> </a:t>
            </a:r>
            <a:r>
              <a:rPr sz="2400" i="1" spc="-10" dirty="0">
                <a:latin typeface="Times New Roman"/>
                <a:cs typeface="Times New Roman"/>
              </a:rPr>
              <a:t>Transportation</a:t>
            </a:r>
            <a:r>
              <a:rPr sz="2400" i="1" spc="-40" dirty="0">
                <a:latin typeface="Times New Roman"/>
                <a:cs typeface="Times New Roman"/>
              </a:rPr>
              <a:t> </a:t>
            </a:r>
            <a:r>
              <a:rPr sz="2400" i="1" dirty="0">
                <a:latin typeface="Times New Roman"/>
                <a:cs typeface="Times New Roman"/>
              </a:rPr>
              <a:t>Research</a:t>
            </a:r>
            <a:r>
              <a:rPr sz="2400" dirty="0">
                <a:latin typeface="Times New Roman"/>
                <a:cs typeface="Times New Roman"/>
              </a:rPr>
              <a:t>,</a:t>
            </a:r>
            <a:r>
              <a:rPr sz="2400" spc="-40" dirty="0">
                <a:latin typeface="Times New Roman"/>
                <a:cs typeface="Times New Roman"/>
              </a:rPr>
              <a:t> </a:t>
            </a:r>
            <a:r>
              <a:rPr sz="2400" spc="-10" dirty="0">
                <a:latin typeface="Times New Roman"/>
                <a:cs typeface="Times New Roman"/>
              </a:rPr>
              <a:t>2020.</a:t>
            </a:r>
            <a:endParaRPr sz="240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2FC6CB4-AB02-DE85-B4A3-91F4B0445B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6085</TotalTime>
  <Words>1279</Words>
  <Application>Microsoft Office PowerPoint</Application>
  <PresentationFormat>Widescreen</PresentationFormat>
  <Paragraphs>140</Paragraphs>
  <Slides>20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Arial MT</vt:lpstr>
      <vt:lpstr>Calibri</vt:lpstr>
      <vt:lpstr>Times New Roman</vt:lpstr>
      <vt:lpstr>Trebuchet MS</vt:lpstr>
      <vt:lpstr>Wingdings</vt:lpstr>
      <vt:lpstr>Office Theme</vt:lpstr>
      <vt:lpstr>BELAGAVI,KARNATAKA-590018</vt:lpstr>
      <vt:lpstr>PowerPoint Presentation</vt:lpstr>
      <vt:lpstr>PowerPoint Presentation</vt:lpstr>
      <vt:lpstr>PowerPoint Presentation</vt:lpstr>
      <vt:lpstr>PowerPoint Presentation</vt:lpstr>
      <vt:lpstr>OBJECTIVES OF THE STUDY</vt:lpstr>
      <vt:lpstr>PowerPoint Presentation</vt:lpstr>
      <vt:lpstr>LITERATURE SURVEY</vt:lpstr>
      <vt:lpstr>PowerPoint Presentation</vt:lpstr>
      <vt:lpstr>PowerPoint Presentation</vt:lpstr>
      <vt:lpstr>Proposed Methodology</vt:lpstr>
      <vt:lpstr>PowerPoint Presentation</vt:lpstr>
      <vt:lpstr>Existing System vs Proposed System</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preethi kumari</dc:creator>
  <cp:lastModifiedBy>Preethi Kumari</cp:lastModifiedBy>
  <cp:revision>6</cp:revision>
  <dcterms:created xsi:type="dcterms:W3CDTF">2025-10-05T18:22:13Z</dcterms:created>
  <dcterms:modified xsi:type="dcterms:W3CDTF">2026-01-09T15:37:33Z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2025-05-29T00:00:00Z</vt:filetime>
  </property>
  <property fmtid="{D5CDD505-2E9C-101B-9397-08002B2CF9AE}" pid="3" name="LastSaved">
    <vt:filetime>2025-10-05T00:00:00Z</vt:filetime>
  </property>
</Properties>
</file>